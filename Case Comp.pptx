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League Spartan"/>
      <p:regular r:id="rId17"/>
      <p:bold r:id="rId18"/>
    </p:embeddedFont>
    <p:embeddedFont>
      <p:font typeface="Open Sans"/>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penSans-bold.fntdata"/><Relationship Id="rId11" Type="http://schemas.openxmlformats.org/officeDocument/2006/relationships/slide" Target="slides/slide6.xml"/><Relationship Id="rId22" Type="http://schemas.openxmlformats.org/officeDocument/2006/relationships/font" Target="fonts/OpenSans-boldItalic.fntdata"/><Relationship Id="rId10" Type="http://schemas.openxmlformats.org/officeDocument/2006/relationships/slide" Target="slides/slide5.xml"/><Relationship Id="rId21" Type="http://schemas.openxmlformats.org/officeDocument/2006/relationships/font" Target="fonts/OpenSans-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LeagueSpartan-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OpenSans-regular.fntdata"/><Relationship Id="rId6" Type="http://schemas.openxmlformats.org/officeDocument/2006/relationships/slide" Target="slides/slide1.xml"/><Relationship Id="rId18" Type="http://schemas.openxmlformats.org/officeDocument/2006/relationships/font" Target="fonts/LeagueSpartan-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a795b7f69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g3a795b7f692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a795b7f692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g3a795b7f692_0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9a1ddc7be5_5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g39a1ddc7be5_5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a795b7f692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g3a795b7f692_0_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a795b7f692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g3a795b7f692_0_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a795b7f69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g3a795b7f692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a795b7f692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g3a795b7f692_0_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a795b7f692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g3a795b7f692_0_1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a795b7f692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g3a795b7f692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a795b7f692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g3a795b7f692_0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a795b7f692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g3a795b7f692_0_9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514350" y="1627891"/>
            <a:ext cx="4777500" cy="1154400"/>
          </a:xfrm>
          <a:prstGeom prst="rect">
            <a:avLst/>
          </a:prstGeom>
          <a:noFill/>
          <a:ln>
            <a:noFill/>
          </a:ln>
        </p:spPr>
        <p:txBody>
          <a:bodyPr anchorCtr="0" anchor="t" bIns="0" lIns="0" spcFirstLastPara="1" rIns="0" wrap="square" tIns="0">
            <a:spAutoFit/>
          </a:bodyPr>
          <a:lstStyle/>
          <a:p>
            <a:pPr indent="0" lvl="0" marL="0" marR="0" rtl="0" algn="l">
              <a:lnSpc>
                <a:spcPct val="119997"/>
              </a:lnSpc>
              <a:spcBef>
                <a:spcPts val="0"/>
              </a:spcBef>
              <a:spcAft>
                <a:spcPts val="0"/>
              </a:spcAft>
              <a:buNone/>
            </a:pPr>
            <a:r>
              <a:rPr lang="en" sz="7500">
                <a:latin typeface="League Spartan"/>
                <a:ea typeface="League Spartan"/>
                <a:cs typeface="League Spartan"/>
                <a:sym typeface="League Spartan"/>
              </a:rPr>
              <a:t>Some Title…</a:t>
            </a:r>
            <a:endParaRPr sz="700"/>
          </a:p>
        </p:txBody>
      </p:sp>
      <p:sp>
        <p:nvSpPr>
          <p:cNvPr id="55" name="Google Shape;55;p13"/>
          <p:cNvSpPr/>
          <p:nvPr/>
        </p:nvSpPr>
        <p:spPr>
          <a:xfrm rot="-5400000">
            <a:off x="5939334" y="2247962"/>
            <a:ext cx="5760020" cy="649312"/>
          </a:xfrm>
          <a:custGeom>
            <a:rect b="b" l="l" r="r" t="t"/>
            <a:pathLst>
              <a:path extrusionOk="0" h="1298623" w="11520040">
                <a:moveTo>
                  <a:pt x="0" y="0"/>
                </a:moveTo>
                <a:lnTo>
                  <a:pt x="11520040" y="0"/>
                </a:lnTo>
                <a:lnTo>
                  <a:pt x="11520040" y="1298623"/>
                </a:lnTo>
                <a:lnTo>
                  <a:pt x="0" y="1298623"/>
                </a:lnTo>
                <a:lnTo>
                  <a:pt x="0" y="0"/>
                </a:lnTo>
                <a:close/>
              </a:path>
            </a:pathLst>
          </a:custGeom>
          <a:blipFill rotWithShape="1">
            <a:blip r:embed="rId3">
              <a:alphaModFix/>
            </a:blip>
            <a:stretch>
              <a:fillRect b="0" l="0" r="0" t="0"/>
            </a:stretch>
          </a:blipFill>
          <a:ln>
            <a:noFill/>
          </a:ln>
        </p:spPr>
      </p:sp>
      <p:sp>
        <p:nvSpPr>
          <p:cNvPr id="56" name="Google Shape;56;p13"/>
          <p:cNvSpPr/>
          <p:nvPr/>
        </p:nvSpPr>
        <p:spPr>
          <a:xfrm>
            <a:off x="514350" y="4513647"/>
            <a:ext cx="1210029" cy="231006"/>
          </a:xfrm>
          <a:custGeom>
            <a:rect b="b" l="l" r="r" t="t"/>
            <a:pathLst>
              <a:path extrusionOk="0" h="462011" w="2420057">
                <a:moveTo>
                  <a:pt x="0" y="0"/>
                </a:moveTo>
                <a:lnTo>
                  <a:pt x="2420057" y="0"/>
                </a:lnTo>
                <a:lnTo>
                  <a:pt x="2420057" y="462010"/>
                </a:lnTo>
                <a:lnTo>
                  <a:pt x="0" y="462010"/>
                </a:lnTo>
                <a:lnTo>
                  <a:pt x="0" y="0"/>
                </a:lnTo>
                <a:close/>
              </a:path>
            </a:pathLst>
          </a:custGeom>
          <a:blipFill rotWithShape="1">
            <a:blip r:embed="rId4">
              <a:alphaModFix/>
            </a:blip>
            <a:stretch>
              <a:fillRect b="0" l="0" r="0" t="0"/>
            </a:stretch>
          </a:blipFill>
          <a:ln>
            <a:noFill/>
          </a:ln>
        </p:spPr>
      </p:sp>
      <p:sp>
        <p:nvSpPr>
          <p:cNvPr id="57" name="Google Shape;57;p13"/>
          <p:cNvSpPr txBox="1"/>
          <p:nvPr/>
        </p:nvSpPr>
        <p:spPr>
          <a:xfrm>
            <a:off x="465346" y="490550"/>
            <a:ext cx="3985200" cy="184800"/>
          </a:xfrm>
          <a:prstGeom prst="rect">
            <a:avLst/>
          </a:prstGeom>
          <a:noFill/>
          <a:ln>
            <a:noFill/>
          </a:ln>
        </p:spPr>
        <p:txBody>
          <a:bodyPr anchorCtr="0" anchor="t" bIns="0" lIns="0" spcFirstLastPara="1" rIns="0" wrap="square" tIns="0">
            <a:spAutoFit/>
          </a:bodyPr>
          <a:lstStyle/>
          <a:p>
            <a:pPr indent="0" lvl="0" marL="0" marR="0" rtl="0" algn="l">
              <a:lnSpc>
                <a:spcPct val="140025"/>
              </a:lnSpc>
              <a:spcBef>
                <a:spcPts val="0"/>
              </a:spcBef>
              <a:spcAft>
                <a:spcPts val="0"/>
              </a:spcAft>
              <a:buNone/>
            </a:pPr>
            <a:r>
              <a:rPr lang="en" sz="1200">
                <a:latin typeface="Open Sans"/>
                <a:ea typeface="Open Sans"/>
                <a:cs typeface="Open Sans"/>
                <a:sym typeface="Open Sans"/>
              </a:rPr>
              <a:t>2025 Sustainability Expertise Case Competition</a:t>
            </a:r>
            <a:endParaRPr sz="700"/>
          </a:p>
        </p:txBody>
      </p:sp>
      <p:sp>
        <p:nvSpPr>
          <p:cNvPr id="58" name="Google Shape;58;p13"/>
          <p:cNvSpPr txBox="1"/>
          <p:nvPr/>
        </p:nvSpPr>
        <p:spPr>
          <a:xfrm>
            <a:off x="465350" y="3734825"/>
            <a:ext cx="3985200" cy="517200"/>
          </a:xfrm>
          <a:prstGeom prst="rect">
            <a:avLst/>
          </a:prstGeom>
          <a:noFill/>
          <a:ln>
            <a:noFill/>
          </a:ln>
        </p:spPr>
        <p:txBody>
          <a:bodyPr anchorCtr="0" anchor="t" bIns="0" lIns="0" spcFirstLastPara="1" rIns="0" wrap="square" tIns="0">
            <a:spAutoFit/>
          </a:bodyPr>
          <a:lstStyle/>
          <a:p>
            <a:pPr indent="0" lvl="0" marL="0" marR="0" rtl="0" algn="l">
              <a:lnSpc>
                <a:spcPct val="140028"/>
              </a:lnSpc>
              <a:spcBef>
                <a:spcPts val="0"/>
              </a:spcBef>
              <a:spcAft>
                <a:spcPts val="0"/>
              </a:spcAft>
              <a:buNone/>
            </a:pPr>
            <a:r>
              <a:rPr b="0" i="0" lang="en" sz="1400" u="none" cap="none" strike="noStrike">
                <a:solidFill>
                  <a:srgbClr val="000000"/>
                </a:solidFill>
                <a:latin typeface="Open Sans"/>
                <a:ea typeface="Open Sans"/>
                <a:cs typeface="Open Sans"/>
                <a:sym typeface="Open Sans"/>
              </a:rPr>
              <a:t>By </a:t>
            </a:r>
            <a:r>
              <a:rPr lang="en">
                <a:latin typeface="Open Sans"/>
                <a:ea typeface="Open Sans"/>
                <a:cs typeface="Open Sans"/>
                <a:sym typeface="Open Sans"/>
              </a:rPr>
              <a:t>Agata Fietko, Meryem Rafiq, Prateek Verma, Yullia Koreiba, Yuri Chen </a:t>
            </a:r>
            <a:endParaRPr sz="7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p:nvPr/>
        </p:nvSpPr>
        <p:spPr>
          <a:xfrm>
            <a:off x="935408" y="1221363"/>
            <a:ext cx="1311710" cy="147866"/>
          </a:xfrm>
          <a:custGeom>
            <a:rect b="b" l="l" r="r" t="t"/>
            <a:pathLst>
              <a:path extrusionOk="0" h="295731" w="2623419">
                <a:moveTo>
                  <a:pt x="0" y="0"/>
                </a:moveTo>
                <a:lnTo>
                  <a:pt x="2623419" y="0"/>
                </a:lnTo>
                <a:lnTo>
                  <a:pt x="2623419" y="295731"/>
                </a:lnTo>
                <a:lnTo>
                  <a:pt x="0" y="295731"/>
                </a:lnTo>
                <a:lnTo>
                  <a:pt x="0" y="0"/>
                </a:lnTo>
                <a:close/>
              </a:path>
            </a:pathLst>
          </a:custGeom>
          <a:blipFill rotWithShape="1">
            <a:blip r:embed="rId3">
              <a:alphaModFix/>
            </a:blip>
            <a:stretch>
              <a:fillRect b="0" l="0" r="0" t="0"/>
            </a:stretch>
          </a:blipFill>
          <a:ln>
            <a:noFill/>
          </a:ln>
        </p:spPr>
      </p:sp>
      <p:sp>
        <p:nvSpPr>
          <p:cNvPr id="64" name="Google Shape;64;p14"/>
          <p:cNvSpPr/>
          <p:nvPr/>
        </p:nvSpPr>
        <p:spPr>
          <a:xfrm rot="-5400000">
            <a:off x="-2555354" y="2247962"/>
            <a:ext cx="5760020" cy="649312"/>
          </a:xfrm>
          <a:custGeom>
            <a:rect b="b" l="l" r="r" t="t"/>
            <a:pathLst>
              <a:path extrusionOk="0" h="1298623" w="11520040">
                <a:moveTo>
                  <a:pt x="0" y="0"/>
                </a:moveTo>
                <a:lnTo>
                  <a:pt x="11520040" y="0"/>
                </a:lnTo>
                <a:lnTo>
                  <a:pt x="11520040" y="1298623"/>
                </a:lnTo>
                <a:lnTo>
                  <a:pt x="0" y="1298623"/>
                </a:lnTo>
                <a:lnTo>
                  <a:pt x="0" y="0"/>
                </a:lnTo>
                <a:close/>
              </a:path>
            </a:pathLst>
          </a:custGeom>
          <a:blipFill rotWithShape="1">
            <a:blip r:embed="rId3">
              <a:alphaModFix/>
            </a:blip>
            <a:stretch>
              <a:fillRect b="0" l="0" r="0" t="0"/>
            </a:stretch>
          </a:blipFill>
          <a:ln>
            <a:noFill/>
          </a:ln>
        </p:spPr>
      </p:sp>
      <p:sp>
        <p:nvSpPr>
          <p:cNvPr id="65" name="Google Shape;65;p14"/>
          <p:cNvSpPr txBox="1"/>
          <p:nvPr/>
        </p:nvSpPr>
        <p:spPr>
          <a:xfrm>
            <a:off x="973918" y="349984"/>
            <a:ext cx="4357200" cy="738900"/>
          </a:xfrm>
          <a:prstGeom prst="rect">
            <a:avLst/>
          </a:prstGeom>
          <a:noFill/>
          <a:ln>
            <a:noFill/>
          </a:ln>
        </p:spPr>
        <p:txBody>
          <a:bodyPr anchorCtr="0" anchor="t" bIns="0" lIns="0" spcFirstLastPara="1" rIns="0" wrap="square" tIns="0">
            <a:spAutoFit/>
          </a:bodyPr>
          <a:lstStyle/>
          <a:p>
            <a:pPr indent="0" lvl="0" marL="0" marR="0" rtl="0" algn="l">
              <a:lnSpc>
                <a:spcPct val="140004"/>
              </a:lnSpc>
              <a:spcBef>
                <a:spcPts val="0"/>
              </a:spcBef>
              <a:spcAft>
                <a:spcPts val="0"/>
              </a:spcAft>
              <a:buNone/>
            </a:pPr>
            <a:r>
              <a:rPr b="1" lang="en" sz="4800">
                <a:latin typeface="League Spartan"/>
                <a:ea typeface="League Spartan"/>
                <a:cs typeface="League Spartan"/>
                <a:sym typeface="League Spartan"/>
              </a:rPr>
              <a:t>HOME PAGE</a:t>
            </a:r>
            <a:endParaRPr sz="700"/>
          </a:p>
        </p:txBody>
      </p:sp>
      <p:pic>
        <p:nvPicPr>
          <p:cNvPr id="66" name="Google Shape;66;p14" title="Screenshot 2025-11-25 at 2.27.49 PM.png"/>
          <p:cNvPicPr preferRelativeResize="0"/>
          <p:nvPr/>
        </p:nvPicPr>
        <p:blipFill>
          <a:blip r:embed="rId4">
            <a:alphaModFix/>
          </a:blip>
          <a:stretch>
            <a:fillRect/>
          </a:stretch>
        </p:blipFill>
        <p:spPr>
          <a:xfrm>
            <a:off x="2399518" y="1241284"/>
            <a:ext cx="6415724" cy="374981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p:nvPr/>
        </p:nvSpPr>
        <p:spPr>
          <a:xfrm>
            <a:off x="935408" y="1221363"/>
            <a:ext cx="1311710" cy="147866"/>
          </a:xfrm>
          <a:custGeom>
            <a:rect b="b" l="l" r="r" t="t"/>
            <a:pathLst>
              <a:path extrusionOk="0" h="295731" w="2623419">
                <a:moveTo>
                  <a:pt x="0" y="0"/>
                </a:moveTo>
                <a:lnTo>
                  <a:pt x="2623419" y="0"/>
                </a:lnTo>
                <a:lnTo>
                  <a:pt x="2623419" y="295731"/>
                </a:lnTo>
                <a:lnTo>
                  <a:pt x="0" y="295731"/>
                </a:lnTo>
                <a:lnTo>
                  <a:pt x="0" y="0"/>
                </a:lnTo>
                <a:close/>
              </a:path>
            </a:pathLst>
          </a:custGeom>
          <a:blipFill rotWithShape="1">
            <a:blip r:embed="rId3">
              <a:alphaModFix/>
            </a:blip>
            <a:stretch>
              <a:fillRect b="0" l="0" r="0" t="0"/>
            </a:stretch>
          </a:blipFill>
          <a:ln>
            <a:noFill/>
          </a:ln>
        </p:spPr>
      </p:sp>
      <p:sp>
        <p:nvSpPr>
          <p:cNvPr id="72" name="Google Shape;72;p15"/>
          <p:cNvSpPr/>
          <p:nvPr/>
        </p:nvSpPr>
        <p:spPr>
          <a:xfrm rot="-5400000">
            <a:off x="-2555354" y="2247962"/>
            <a:ext cx="5760020" cy="649312"/>
          </a:xfrm>
          <a:custGeom>
            <a:rect b="b" l="l" r="r" t="t"/>
            <a:pathLst>
              <a:path extrusionOk="0" h="1298623" w="11520040">
                <a:moveTo>
                  <a:pt x="0" y="0"/>
                </a:moveTo>
                <a:lnTo>
                  <a:pt x="11520040" y="0"/>
                </a:lnTo>
                <a:lnTo>
                  <a:pt x="11520040" y="1298623"/>
                </a:lnTo>
                <a:lnTo>
                  <a:pt x="0" y="1298623"/>
                </a:lnTo>
                <a:lnTo>
                  <a:pt x="0" y="0"/>
                </a:lnTo>
                <a:close/>
              </a:path>
            </a:pathLst>
          </a:custGeom>
          <a:blipFill rotWithShape="1">
            <a:blip r:embed="rId3">
              <a:alphaModFix/>
            </a:blip>
            <a:stretch>
              <a:fillRect b="0" l="0" r="0" t="0"/>
            </a:stretch>
          </a:blipFill>
          <a:ln>
            <a:noFill/>
          </a:ln>
        </p:spPr>
      </p:sp>
      <p:sp>
        <p:nvSpPr>
          <p:cNvPr id="73" name="Google Shape;73;p15"/>
          <p:cNvSpPr txBox="1"/>
          <p:nvPr/>
        </p:nvSpPr>
        <p:spPr>
          <a:xfrm>
            <a:off x="973918" y="349984"/>
            <a:ext cx="4357200" cy="738900"/>
          </a:xfrm>
          <a:prstGeom prst="rect">
            <a:avLst/>
          </a:prstGeom>
          <a:noFill/>
          <a:ln>
            <a:noFill/>
          </a:ln>
        </p:spPr>
        <p:txBody>
          <a:bodyPr anchorCtr="0" anchor="t" bIns="0" lIns="0" spcFirstLastPara="1" rIns="0" wrap="square" tIns="0">
            <a:spAutoFit/>
          </a:bodyPr>
          <a:lstStyle/>
          <a:p>
            <a:pPr indent="0" lvl="0" marL="0" marR="0" rtl="0" algn="l">
              <a:lnSpc>
                <a:spcPct val="140004"/>
              </a:lnSpc>
              <a:spcBef>
                <a:spcPts val="0"/>
              </a:spcBef>
              <a:spcAft>
                <a:spcPts val="0"/>
              </a:spcAft>
              <a:buNone/>
            </a:pPr>
            <a:r>
              <a:rPr b="1" lang="en" sz="4800">
                <a:latin typeface="League Spartan"/>
                <a:ea typeface="League Spartan"/>
                <a:cs typeface="League Spartan"/>
                <a:sym typeface="League Spartan"/>
              </a:rPr>
              <a:t>HOME PAGE</a:t>
            </a:r>
            <a:endParaRPr sz="700"/>
          </a:p>
        </p:txBody>
      </p:sp>
      <p:pic>
        <p:nvPicPr>
          <p:cNvPr id="74" name="Google Shape;74;p15" title="Screenshot 2025-11-25 at 2.24.09 PM.png"/>
          <p:cNvPicPr preferRelativeResize="0"/>
          <p:nvPr/>
        </p:nvPicPr>
        <p:blipFill>
          <a:blip r:embed="rId4">
            <a:alphaModFix/>
          </a:blip>
          <a:stretch>
            <a:fillRect/>
          </a:stretch>
        </p:blipFill>
        <p:spPr>
          <a:xfrm>
            <a:off x="2409225" y="1221374"/>
            <a:ext cx="5791252" cy="39786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82828"/>
        </a:solidFill>
      </p:bgPr>
    </p:bg>
    <p:spTree>
      <p:nvGrpSpPr>
        <p:cNvPr id="78" name="Shape 78"/>
        <p:cNvGrpSpPr/>
        <p:nvPr/>
      </p:nvGrpSpPr>
      <p:grpSpPr>
        <a:xfrm>
          <a:off x="0" y="0"/>
          <a:ext cx="0" cy="0"/>
          <a:chOff x="0" y="0"/>
          <a:chExt cx="0" cy="0"/>
        </a:xfrm>
      </p:grpSpPr>
      <p:sp>
        <p:nvSpPr>
          <p:cNvPr id="79" name="Google Shape;79;p16"/>
          <p:cNvSpPr/>
          <p:nvPr/>
        </p:nvSpPr>
        <p:spPr>
          <a:xfrm>
            <a:off x="514350" y="1043966"/>
            <a:ext cx="1129640" cy="127341"/>
          </a:xfrm>
          <a:custGeom>
            <a:rect b="b" l="l" r="r" t="t"/>
            <a:pathLst>
              <a:path extrusionOk="0" h="254682" w="2259280">
                <a:moveTo>
                  <a:pt x="0" y="0"/>
                </a:moveTo>
                <a:lnTo>
                  <a:pt x="2259280" y="0"/>
                </a:lnTo>
                <a:lnTo>
                  <a:pt x="2259280" y="254683"/>
                </a:lnTo>
                <a:lnTo>
                  <a:pt x="0" y="254683"/>
                </a:lnTo>
                <a:lnTo>
                  <a:pt x="0" y="0"/>
                </a:lnTo>
                <a:close/>
              </a:path>
            </a:pathLst>
          </a:custGeom>
          <a:blipFill rotWithShape="1">
            <a:blip r:embed="rId3">
              <a:alphaModFix/>
            </a:blip>
            <a:stretch>
              <a:fillRect b="0" l="0" r="0" t="0"/>
            </a:stretch>
          </a:blipFill>
          <a:ln>
            <a:noFill/>
          </a:ln>
        </p:spPr>
      </p:sp>
      <p:sp>
        <p:nvSpPr>
          <p:cNvPr id="80" name="Google Shape;80;p16"/>
          <p:cNvSpPr txBox="1"/>
          <p:nvPr/>
        </p:nvSpPr>
        <p:spPr>
          <a:xfrm>
            <a:off x="514350" y="423863"/>
            <a:ext cx="6506400" cy="615600"/>
          </a:xfrm>
          <a:prstGeom prst="rect">
            <a:avLst/>
          </a:prstGeom>
          <a:noFill/>
          <a:ln>
            <a:noFill/>
          </a:ln>
        </p:spPr>
        <p:txBody>
          <a:bodyPr anchorCtr="0" anchor="t" bIns="0" lIns="0" spcFirstLastPara="1" rIns="0" wrap="square" tIns="0">
            <a:spAutoFit/>
          </a:bodyPr>
          <a:lstStyle/>
          <a:p>
            <a:pPr indent="0" lvl="0" marL="0" marR="0" rtl="0" algn="l">
              <a:lnSpc>
                <a:spcPct val="140004"/>
              </a:lnSpc>
              <a:spcBef>
                <a:spcPts val="0"/>
              </a:spcBef>
              <a:spcAft>
                <a:spcPts val="0"/>
              </a:spcAft>
              <a:buNone/>
            </a:pPr>
            <a:r>
              <a:rPr b="1" lang="en" sz="4000">
                <a:solidFill>
                  <a:srgbClr val="FFFFFF"/>
                </a:solidFill>
                <a:latin typeface="League Spartan"/>
                <a:ea typeface="League Spartan"/>
                <a:cs typeface="League Spartan"/>
                <a:sym typeface="League Spartan"/>
              </a:rPr>
              <a:t>STAKEHOLDER INSIGHT</a:t>
            </a:r>
            <a:endParaRPr sz="100"/>
          </a:p>
        </p:txBody>
      </p:sp>
      <p:sp>
        <p:nvSpPr>
          <p:cNvPr id="81" name="Google Shape;81;p16"/>
          <p:cNvSpPr txBox="1"/>
          <p:nvPr/>
        </p:nvSpPr>
        <p:spPr>
          <a:xfrm>
            <a:off x="514350" y="3499641"/>
            <a:ext cx="19500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 sz="1400" u="none" cap="none" strike="noStrike">
                <a:solidFill>
                  <a:srgbClr val="FFA4D8"/>
                </a:solidFill>
                <a:latin typeface="Open Sans"/>
                <a:ea typeface="Open Sans"/>
                <a:cs typeface="Open Sans"/>
                <a:sym typeface="Open Sans"/>
              </a:rPr>
              <a:t>Clara Chen</a:t>
            </a:r>
            <a:endParaRPr sz="700"/>
          </a:p>
        </p:txBody>
      </p:sp>
      <p:sp>
        <p:nvSpPr>
          <p:cNvPr id="82" name="Google Shape;82;p16"/>
          <p:cNvSpPr txBox="1"/>
          <p:nvPr/>
        </p:nvSpPr>
        <p:spPr>
          <a:xfrm>
            <a:off x="3103645" y="3499662"/>
            <a:ext cx="19500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
                <a:solidFill>
                  <a:srgbClr val="00B7FF"/>
                </a:solidFill>
                <a:latin typeface="Open Sans"/>
                <a:ea typeface="Open Sans"/>
                <a:cs typeface="Open Sans"/>
                <a:sym typeface="Open Sans"/>
              </a:rPr>
              <a:t>Andressa Kamiyama</a:t>
            </a:r>
            <a:endParaRPr sz="700"/>
          </a:p>
        </p:txBody>
      </p:sp>
      <p:sp>
        <p:nvSpPr>
          <p:cNvPr id="83" name="Google Shape;83;p16"/>
          <p:cNvSpPr txBox="1"/>
          <p:nvPr/>
        </p:nvSpPr>
        <p:spPr>
          <a:xfrm>
            <a:off x="3103650" y="3785713"/>
            <a:ext cx="2710200" cy="846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 sz="1100">
                <a:solidFill>
                  <a:srgbClr val="FFFFFF"/>
                </a:solidFill>
                <a:latin typeface="Open Sans"/>
                <a:ea typeface="Open Sans"/>
                <a:cs typeface="Open Sans"/>
                <a:sym typeface="Open Sans"/>
              </a:rPr>
              <a:t>PHD  in Chemical Engineering Candidate</a:t>
            </a:r>
            <a:endParaRPr sz="1100">
              <a:solidFill>
                <a:srgbClr val="FFFFFF"/>
              </a:solidFill>
              <a:latin typeface="Open Sans"/>
              <a:ea typeface="Open Sans"/>
              <a:cs typeface="Open Sans"/>
              <a:sym typeface="Open Sans"/>
            </a:endParaRPr>
          </a:p>
          <a:p>
            <a:pPr indent="-298450" lvl="0" marL="457200" marR="0" rtl="0" algn="l">
              <a:lnSpc>
                <a:spcPct val="100000"/>
              </a:lnSpc>
              <a:spcBef>
                <a:spcPts val="0"/>
              </a:spcBef>
              <a:spcAft>
                <a:spcPts val="0"/>
              </a:spcAft>
              <a:buClr>
                <a:srgbClr val="FFFFFF"/>
              </a:buClr>
              <a:buSzPts val="1100"/>
              <a:buFont typeface="Open Sans"/>
              <a:buChar char="-"/>
            </a:pPr>
            <a:r>
              <a:rPr lang="en" sz="1100">
                <a:solidFill>
                  <a:srgbClr val="FFFFFF"/>
                </a:solidFill>
                <a:latin typeface="Open Sans"/>
                <a:ea typeface="Open Sans"/>
                <a:cs typeface="Open Sans"/>
                <a:sym typeface="Open Sans"/>
              </a:rPr>
              <a:t>Searching for potential RA</a:t>
            </a:r>
            <a:endParaRPr sz="1100">
              <a:solidFill>
                <a:srgbClr val="FFFFFF"/>
              </a:solidFill>
              <a:latin typeface="Open Sans"/>
              <a:ea typeface="Open Sans"/>
              <a:cs typeface="Open Sans"/>
              <a:sym typeface="Open Sans"/>
            </a:endParaRPr>
          </a:p>
          <a:p>
            <a:pPr indent="-298450" lvl="0" marL="457200" marR="0" rtl="0" algn="l">
              <a:lnSpc>
                <a:spcPct val="100000"/>
              </a:lnSpc>
              <a:spcBef>
                <a:spcPts val="0"/>
              </a:spcBef>
              <a:spcAft>
                <a:spcPts val="0"/>
              </a:spcAft>
              <a:buClr>
                <a:srgbClr val="FFFFFF"/>
              </a:buClr>
              <a:buSzPts val="1100"/>
              <a:buFont typeface="Open Sans"/>
              <a:buChar char="-"/>
            </a:pPr>
            <a:r>
              <a:rPr lang="en" sz="1100">
                <a:solidFill>
                  <a:srgbClr val="FFFFFF"/>
                </a:solidFill>
                <a:latin typeface="Open Sans"/>
                <a:ea typeface="Open Sans"/>
                <a:cs typeface="Open Sans"/>
                <a:sym typeface="Open Sans"/>
              </a:rPr>
              <a:t>Links to Professor Websites</a:t>
            </a:r>
            <a:endParaRPr sz="1100">
              <a:solidFill>
                <a:srgbClr val="FFFFFF"/>
              </a:solidFill>
              <a:latin typeface="Open Sans"/>
              <a:ea typeface="Open Sans"/>
              <a:cs typeface="Open Sans"/>
              <a:sym typeface="Open Sans"/>
            </a:endParaRPr>
          </a:p>
          <a:p>
            <a:pPr indent="-298450" lvl="0" marL="457200" marR="0" rtl="0" algn="l">
              <a:lnSpc>
                <a:spcPct val="100000"/>
              </a:lnSpc>
              <a:spcBef>
                <a:spcPts val="0"/>
              </a:spcBef>
              <a:spcAft>
                <a:spcPts val="0"/>
              </a:spcAft>
              <a:buClr>
                <a:srgbClr val="FFFFFF"/>
              </a:buClr>
              <a:buSzPts val="1100"/>
              <a:buFont typeface="Open Sans"/>
              <a:buChar char="-"/>
            </a:pPr>
            <a:r>
              <a:rPr lang="en" sz="1100">
                <a:solidFill>
                  <a:srgbClr val="FFFFFF"/>
                </a:solidFill>
                <a:latin typeface="Open Sans"/>
                <a:ea typeface="Open Sans"/>
                <a:cs typeface="Open Sans"/>
                <a:sym typeface="Open Sans"/>
              </a:rPr>
              <a:t>Status of Professors</a:t>
            </a:r>
            <a:endParaRPr sz="1100">
              <a:solidFill>
                <a:srgbClr val="FFFFFF"/>
              </a:solidFill>
              <a:latin typeface="Open Sans"/>
              <a:ea typeface="Open Sans"/>
              <a:cs typeface="Open Sans"/>
              <a:sym typeface="Open Sans"/>
            </a:endParaRPr>
          </a:p>
          <a:p>
            <a:pPr indent="-298450" lvl="0" marL="457200" marR="0" rtl="0" algn="l">
              <a:lnSpc>
                <a:spcPct val="100000"/>
              </a:lnSpc>
              <a:spcBef>
                <a:spcPts val="0"/>
              </a:spcBef>
              <a:spcAft>
                <a:spcPts val="0"/>
              </a:spcAft>
              <a:buClr>
                <a:srgbClr val="FFFFFF"/>
              </a:buClr>
              <a:buSzPts val="1100"/>
              <a:buFont typeface="Open Sans"/>
              <a:buChar char="-"/>
            </a:pPr>
            <a:r>
              <a:rPr lang="en" sz="1100">
                <a:solidFill>
                  <a:srgbClr val="FFFFFF"/>
                </a:solidFill>
                <a:latin typeface="Open Sans"/>
                <a:ea typeface="Open Sans"/>
                <a:cs typeface="Open Sans"/>
                <a:sym typeface="Open Sans"/>
              </a:rPr>
              <a:t>Professor topics of interest</a:t>
            </a:r>
            <a:endParaRPr sz="1100">
              <a:solidFill>
                <a:srgbClr val="FFFFFF"/>
              </a:solidFill>
              <a:latin typeface="Open Sans"/>
              <a:ea typeface="Open Sans"/>
              <a:cs typeface="Open Sans"/>
              <a:sym typeface="Open Sans"/>
            </a:endParaRPr>
          </a:p>
        </p:txBody>
      </p:sp>
      <p:sp>
        <p:nvSpPr>
          <p:cNvPr id="84" name="Google Shape;84;p16"/>
          <p:cNvSpPr/>
          <p:nvPr/>
        </p:nvSpPr>
        <p:spPr>
          <a:xfrm rot="-5400000">
            <a:off x="5939334" y="2247962"/>
            <a:ext cx="5760020" cy="649312"/>
          </a:xfrm>
          <a:custGeom>
            <a:rect b="b" l="l" r="r" t="t"/>
            <a:pathLst>
              <a:path extrusionOk="0" h="1298623" w="11520040">
                <a:moveTo>
                  <a:pt x="0" y="0"/>
                </a:moveTo>
                <a:lnTo>
                  <a:pt x="11520040" y="0"/>
                </a:lnTo>
                <a:lnTo>
                  <a:pt x="11520040" y="1298623"/>
                </a:lnTo>
                <a:lnTo>
                  <a:pt x="0" y="1298623"/>
                </a:lnTo>
                <a:lnTo>
                  <a:pt x="0" y="0"/>
                </a:lnTo>
                <a:close/>
              </a:path>
            </a:pathLst>
          </a:custGeom>
          <a:blipFill rotWithShape="1">
            <a:blip r:embed="rId3">
              <a:alphaModFix/>
            </a:blip>
            <a:stretch>
              <a:fillRect b="0" l="0" r="0" t="0"/>
            </a:stretch>
          </a:blipFill>
          <a:ln>
            <a:noFill/>
          </a:ln>
        </p:spPr>
      </p:sp>
      <p:pic>
        <p:nvPicPr>
          <p:cNvPr id="85" name="Google Shape;85;p16"/>
          <p:cNvPicPr preferRelativeResize="0"/>
          <p:nvPr/>
        </p:nvPicPr>
        <p:blipFill rotWithShape="1">
          <a:blip r:embed="rId4">
            <a:alphaModFix/>
          </a:blip>
          <a:srcRect b="0" l="7799" r="29551" t="0"/>
          <a:stretch/>
        </p:blipFill>
        <p:spPr>
          <a:xfrm>
            <a:off x="514350" y="1426513"/>
            <a:ext cx="1723575" cy="1906500"/>
          </a:xfrm>
          <a:prstGeom prst="rect">
            <a:avLst/>
          </a:prstGeom>
          <a:noFill/>
          <a:ln>
            <a:noFill/>
          </a:ln>
        </p:spPr>
      </p:pic>
      <p:pic>
        <p:nvPicPr>
          <p:cNvPr id="86" name="Google Shape;86;p16"/>
          <p:cNvPicPr preferRelativeResize="0"/>
          <p:nvPr/>
        </p:nvPicPr>
        <p:blipFill>
          <a:blip r:embed="rId5">
            <a:alphaModFix/>
          </a:blip>
          <a:stretch>
            <a:fillRect/>
          </a:stretch>
        </p:blipFill>
        <p:spPr>
          <a:xfrm>
            <a:off x="6165750" y="1426520"/>
            <a:ext cx="1620537" cy="1906500"/>
          </a:xfrm>
          <a:prstGeom prst="rect">
            <a:avLst/>
          </a:prstGeom>
          <a:noFill/>
          <a:ln>
            <a:noFill/>
          </a:ln>
        </p:spPr>
      </p:pic>
      <p:sp>
        <p:nvSpPr>
          <p:cNvPr id="87" name="Google Shape;87;p16"/>
          <p:cNvSpPr txBox="1"/>
          <p:nvPr/>
        </p:nvSpPr>
        <p:spPr>
          <a:xfrm>
            <a:off x="6165750" y="3499644"/>
            <a:ext cx="19500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
                <a:solidFill>
                  <a:srgbClr val="FFA4D8"/>
                </a:solidFill>
                <a:latin typeface="Open Sans"/>
                <a:ea typeface="Open Sans"/>
                <a:cs typeface="Open Sans"/>
                <a:sym typeface="Open Sans"/>
              </a:rPr>
              <a:t>Fei Du</a:t>
            </a:r>
            <a:endParaRPr sz="700"/>
          </a:p>
        </p:txBody>
      </p:sp>
      <p:sp>
        <p:nvSpPr>
          <p:cNvPr id="88" name="Google Shape;88;p16"/>
          <p:cNvSpPr txBox="1"/>
          <p:nvPr/>
        </p:nvSpPr>
        <p:spPr>
          <a:xfrm>
            <a:off x="6165750" y="3785727"/>
            <a:ext cx="2237400" cy="677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 sz="1100">
                <a:solidFill>
                  <a:schemeClr val="lt1"/>
                </a:solidFill>
                <a:latin typeface="Open Sans"/>
                <a:ea typeface="Open Sans"/>
                <a:cs typeface="Open Sans"/>
                <a:sym typeface="Open Sans"/>
              </a:rPr>
              <a:t>Professor of Accountancy</a:t>
            </a:r>
            <a:endParaRPr sz="1100">
              <a:solidFill>
                <a:schemeClr val="lt1"/>
              </a:solidFill>
              <a:latin typeface="Open Sans"/>
              <a:ea typeface="Open Sans"/>
              <a:cs typeface="Open Sans"/>
              <a:sym typeface="Open Sans"/>
            </a:endParaRPr>
          </a:p>
          <a:p>
            <a:pPr indent="-298450" lvl="0" marL="457200" marR="0" rtl="0" algn="l">
              <a:lnSpc>
                <a:spcPct val="100000"/>
              </a:lnSpc>
              <a:spcBef>
                <a:spcPts val="0"/>
              </a:spcBef>
              <a:spcAft>
                <a:spcPts val="0"/>
              </a:spcAft>
              <a:buClr>
                <a:schemeClr val="lt1"/>
              </a:buClr>
              <a:buSzPts val="1100"/>
              <a:buFont typeface="Open Sans"/>
              <a:buChar char="-"/>
            </a:pPr>
            <a:r>
              <a:rPr lang="en" sz="1100">
                <a:solidFill>
                  <a:schemeClr val="lt1"/>
                </a:solidFill>
                <a:latin typeface="Open Sans"/>
                <a:ea typeface="Open Sans"/>
                <a:cs typeface="Open Sans"/>
                <a:sym typeface="Open Sans"/>
              </a:rPr>
              <a:t>Finding collaborators with similar </a:t>
            </a:r>
            <a:r>
              <a:rPr lang="en" sz="1100">
                <a:solidFill>
                  <a:schemeClr val="lt1"/>
                </a:solidFill>
                <a:latin typeface="Open Sans"/>
                <a:ea typeface="Open Sans"/>
                <a:cs typeface="Open Sans"/>
                <a:sym typeface="Open Sans"/>
              </a:rPr>
              <a:t>interest</a:t>
            </a:r>
            <a:r>
              <a:rPr lang="en" sz="1100">
                <a:solidFill>
                  <a:schemeClr val="lt1"/>
                </a:solidFill>
                <a:latin typeface="Open Sans"/>
                <a:ea typeface="Open Sans"/>
                <a:cs typeface="Open Sans"/>
                <a:sym typeface="Open Sans"/>
              </a:rPr>
              <a:t> but complementary skill sets</a:t>
            </a:r>
            <a:endParaRPr sz="1100">
              <a:solidFill>
                <a:schemeClr val="lt1"/>
              </a:solidFill>
              <a:latin typeface="Open Sans"/>
              <a:ea typeface="Open Sans"/>
              <a:cs typeface="Open Sans"/>
              <a:sym typeface="Open Sans"/>
            </a:endParaRPr>
          </a:p>
        </p:txBody>
      </p:sp>
      <p:sp>
        <p:nvSpPr>
          <p:cNvPr id="89" name="Google Shape;89;p16"/>
          <p:cNvSpPr txBox="1"/>
          <p:nvPr/>
        </p:nvSpPr>
        <p:spPr>
          <a:xfrm>
            <a:off x="514350" y="3785727"/>
            <a:ext cx="2237400" cy="101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 sz="1100">
                <a:solidFill>
                  <a:schemeClr val="lt1"/>
                </a:solidFill>
                <a:latin typeface="Open Sans"/>
                <a:ea typeface="Open Sans"/>
                <a:cs typeface="Open Sans"/>
                <a:sym typeface="Open Sans"/>
              </a:rPr>
              <a:t>Professor of Accountancy</a:t>
            </a:r>
            <a:endParaRPr sz="1100">
              <a:solidFill>
                <a:schemeClr val="lt1"/>
              </a:solidFill>
              <a:latin typeface="Open Sans"/>
              <a:ea typeface="Open Sans"/>
              <a:cs typeface="Open Sans"/>
              <a:sym typeface="Open Sans"/>
            </a:endParaRPr>
          </a:p>
          <a:p>
            <a:pPr indent="-298450" lvl="0" marL="457200" marR="0" rtl="0" algn="l">
              <a:lnSpc>
                <a:spcPct val="100000"/>
              </a:lnSpc>
              <a:spcBef>
                <a:spcPts val="0"/>
              </a:spcBef>
              <a:spcAft>
                <a:spcPts val="0"/>
              </a:spcAft>
              <a:buClr>
                <a:schemeClr val="lt1"/>
              </a:buClr>
              <a:buSzPts val="1100"/>
              <a:buFont typeface="Open Sans"/>
              <a:buChar char="-"/>
            </a:pPr>
            <a:r>
              <a:rPr lang="en" sz="1100">
                <a:solidFill>
                  <a:schemeClr val="lt1"/>
                </a:solidFill>
                <a:latin typeface="Open Sans"/>
                <a:ea typeface="Open Sans"/>
                <a:cs typeface="Open Sans"/>
                <a:sym typeface="Open Sans"/>
              </a:rPr>
              <a:t>Links to articles</a:t>
            </a:r>
            <a:endParaRPr sz="1100">
              <a:solidFill>
                <a:schemeClr val="lt1"/>
              </a:solidFill>
              <a:latin typeface="Open Sans"/>
              <a:ea typeface="Open Sans"/>
              <a:cs typeface="Open Sans"/>
              <a:sym typeface="Open Sans"/>
            </a:endParaRPr>
          </a:p>
          <a:p>
            <a:pPr indent="-298450" lvl="0" marL="457200" marR="0" rtl="0" algn="l">
              <a:lnSpc>
                <a:spcPct val="100000"/>
              </a:lnSpc>
              <a:spcBef>
                <a:spcPts val="0"/>
              </a:spcBef>
              <a:spcAft>
                <a:spcPts val="0"/>
              </a:spcAft>
              <a:buClr>
                <a:schemeClr val="lt1"/>
              </a:buClr>
              <a:buSzPts val="1100"/>
              <a:buFont typeface="Open Sans"/>
              <a:buChar char="-"/>
            </a:pPr>
            <a:r>
              <a:rPr lang="en" sz="1100">
                <a:solidFill>
                  <a:schemeClr val="lt1"/>
                </a:solidFill>
                <a:latin typeface="Open Sans"/>
                <a:ea typeface="Open Sans"/>
                <a:cs typeface="Open Sans"/>
                <a:sym typeface="Open Sans"/>
              </a:rPr>
              <a:t>More information on Goals</a:t>
            </a:r>
            <a:endParaRPr sz="1100">
              <a:solidFill>
                <a:schemeClr val="lt1"/>
              </a:solidFill>
              <a:latin typeface="Open Sans"/>
              <a:ea typeface="Open Sans"/>
              <a:cs typeface="Open Sans"/>
              <a:sym typeface="Open Sans"/>
            </a:endParaRPr>
          </a:p>
          <a:p>
            <a:pPr indent="-298450" lvl="0" marL="457200" marR="0" rtl="0" algn="l">
              <a:lnSpc>
                <a:spcPct val="100000"/>
              </a:lnSpc>
              <a:spcBef>
                <a:spcPts val="0"/>
              </a:spcBef>
              <a:spcAft>
                <a:spcPts val="0"/>
              </a:spcAft>
              <a:buClr>
                <a:schemeClr val="lt1"/>
              </a:buClr>
              <a:buSzPts val="1100"/>
              <a:buFont typeface="Open Sans"/>
              <a:buChar char="-"/>
            </a:pPr>
            <a:r>
              <a:rPr lang="en" sz="1100">
                <a:solidFill>
                  <a:schemeClr val="lt1"/>
                </a:solidFill>
                <a:latin typeface="Open Sans"/>
                <a:ea typeface="Open Sans"/>
                <a:cs typeface="Open Sans"/>
                <a:sym typeface="Open Sans"/>
              </a:rPr>
              <a:t>Motivating research areas</a:t>
            </a:r>
            <a:endParaRPr sz="1100">
              <a:solidFill>
                <a:schemeClr val="lt1"/>
              </a:solidFill>
              <a:latin typeface="Open Sans"/>
              <a:ea typeface="Open Sans"/>
              <a:cs typeface="Open Sans"/>
              <a:sym typeface="Open Sans"/>
            </a:endParaRPr>
          </a:p>
          <a:p>
            <a:pPr indent="-298450" lvl="0" marL="457200" marR="0" rtl="0" algn="l">
              <a:lnSpc>
                <a:spcPct val="100000"/>
              </a:lnSpc>
              <a:spcBef>
                <a:spcPts val="0"/>
              </a:spcBef>
              <a:spcAft>
                <a:spcPts val="0"/>
              </a:spcAft>
              <a:buClr>
                <a:schemeClr val="lt1"/>
              </a:buClr>
              <a:buSzPts val="1100"/>
              <a:buFont typeface="Open Sans"/>
              <a:buChar char="-"/>
            </a:pPr>
            <a:r>
              <a:rPr lang="en" sz="1100">
                <a:solidFill>
                  <a:schemeClr val="lt1"/>
                </a:solidFill>
                <a:latin typeface="Open Sans"/>
                <a:ea typeface="Open Sans"/>
                <a:cs typeface="Open Sans"/>
                <a:sym typeface="Open Sans"/>
              </a:rPr>
              <a:t>Finding collaborators </a:t>
            </a:r>
            <a:r>
              <a:rPr lang="en" sz="1100">
                <a:solidFill>
                  <a:schemeClr val="lt1"/>
                </a:solidFill>
                <a:latin typeface="Open Sans"/>
                <a:ea typeface="Open Sans"/>
                <a:cs typeface="Open Sans"/>
                <a:sym typeface="Open Sans"/>
              </a:rPr>
              <a:t>with</a:t>
            </a:r>
            <a:r>
              <a:rPr lang="en" sz="1100">
                <a:solidFill>
                  <a:schemeClr val="lt1"/>
                </a:solidFill>
                <a:latin typeface="Open Sans"/>
                <a:ea typeface="Open Sans"/>
                <a:cs typeface="Open Sans"/>
                <a:sym typeface="Open Sans"/>
              </a:rPr>
              <a:t> common interest</a:t>
            </a:r>
            <a:endParaRPr sz="1100">
              <a:solidFill>
                <a:schemeClr val="lt1"/>
              </a:solidFill>
              <a:latin typeface="Open Sans"/>
              <a:ea typeface="Open Sans"/>
              <a:cs typeface="Open Sans"/>
              <a:sym typeface="Open Sans"/>
            </a:endParaRPr>
          </a:p>
        </p:txBody>
      </p:sp>
      <p:pic>
        <p:nvPicPr>
          <p:cNvPr id="90" name="Google Shape;90;p16"/>
          <p:cNvPicPr preferRelativeResize="0"/>
          <p:nvPr/>
        </p:nvPicPr>
        <p:blipFill rotWithShape="1">
          <a:blip r:embed="rId6">
            <a:alphaModFix/>
          </a:blip>
          <a:srcRect b="42523" l="20595" r="25603" t="6978"/>
          <a:stretch/>
        </p:blipFill>
        <p:spPr>
          <a:xfrm>
            <a:off x="3391575" y="1459350"/>
            <a:ext cx="1620525" cy="19064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82828"/>
        </a:solidFill>
      </p:bgPr>
    </p:bg>
    <p:spTree>
      <p:nvGrpSpPr>
        <p:cNvPr id="94" name="Shape 94"/>
        <p:cNvGrpSpPr/>
        <p:nvPr/>
      </p:nvGrpSpPr>
      <p:grpSpPr>
        <a:xfrm>
          <a:off x="0" y="0"/>
          <a:ext cx="0" cy="0"/>
          <a:chOff x="0" y="0"/>
          <a:chExt cx="0" cy="0"/>
        </a:xfrm>
      </p:grpSpPr>
      <p:sp>
        <p:nvSpPr>
          <p:cNvPr id="95" name="Google Shape;95;p17"/>
          <p:cNvSpPr txBox="1"/>
          <p:nvPr/>
        </p:nvSpPr>
        <p:spPr>
          <a:xfrm>
            <a:off x="514350" y="477566"/>
            <a:ext cx="6446100" cy="738900"/>
          </a:xfrm>
          <a:prstGeom prst="rect">
            <a:avLst/>
          </a:prstGeom>
          <a:noFill/>
          <a:ln>
            <a:noFill/>
          </a:ln>
        </p:spPr>
        <p:txBody>
          <a:bodyPr anchorCtr="0" anchor="t" bIns="0" lIns="0" spcFirstLastPara="1" rIns="0" wrap="square" tIns="0">
            <a:spAutoFit/>
          </a:bodyPr>
          <a:lstStyle/>
          <a:p>
            <a:pPr indent="0" lvl="0" marL="0" marR="0" rtl="0" algn="l">
              <a:lnSpc>
                <a:spcPct val="140004"/>
              </a:lnSpc>
              <a:spcBef>
                <a:spcPts val="0"/>
              </a:spcBef>
              <a:spcAft>
                <a:spcPts val="0"/>
              </a:spcAft>
              <a:buNone/>
            </a:pPr>
            <a:r>
              <a:rPr b="1" lang="en" sz="4800">
                <a:solidFill>
                  <a:srgbClr val="FFFFFF"/>
                </a:solidFill>
                <a:latin typeface="League Spartan"/>
                <a:ea typeface="League Spartan"/>
                <a:cs typeface="League Spartan"/>
                <a:sym typeface="League Spartan"/>
              </a:rPr>
              <a:t>COLLABORATION HUB</a:t>
            </a:r>
            <a:endParaRPr sz="700"/>
          </a:p>
        </p:txBody>
      </p:sp>
      <p:sp>
        <p:nvSpPr>
          <p:cNvPr id="96" name="Google Shape;96;p17"/>
          <p:cNvSpPr txBox="1"/>
          <p:nvPr/>
        </p:nvSpPr>
        <p:spPr>
          <a:xfrm>
            <a:off x="514350" y="2193910"/>
            <a:ext cx="51741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
                <a:solidFill>
                  <a:srgbClr val="FFFFFF"/>
                </a:solidFill>
                <a:latin typeface="Open Sans"/>
                <a:ea typeface="Open Sans"/>
                <a:cs typeface="Open Sans"/>
                <a:sym typeface="Open Sans"/>
              </a:rPr>
              <a:t>Goal: pair people who have </a:t>
            </a:r>
            <a:r>
              <a:rPr b="1" lang="en">
                <a:solidFill>
                  <a:srgbClr val="FFFFFF"/>
                </a:solidFill>
                <a:latin typeface="Open Sans"/>
                <a:ea typeface="Open Sans"/>
                <a:cs typeface="Open Sans"/>
                <a:sym typeface="Open Sans"/>
              </a:rPr>
              <a:t>complementary</a:t>
            </a:r>
            <a:r>
              <a:rPr b="1" lang="en">
                <a:solidFill>
                  <a:srgbClr val="FFFFFF"/>
                </a:solidFill>
                <a:latin typeface="Open Sans"/>
                <a:ea typeface="Open Sans"/>
                <a:cs typeface="Open Sans"/>
                <a:sym typeface="Open Sans"/>
              </a:rPr>
              <a:t> </a:t>
            </a:r>
            <a:r>
              <a:rPr b="1" lang="en">
                <a:solidFill>
                  <a:srgbClr val="FFFFFF"/>
                </a:solidFill>
                <a:latin typeface="Open Sans"/>
                <a:ea typeface="Open Sans"/>
                <a:cs typeface="Open Sans"/>
                <a:sym typeface="Open Sans"/>
              </a:rPr>
              <a:t>skill sets</a:t>
            </a:r>
            <a:endParaRPr b="1">
              <a:solidFill>
                <a:srgbClr val="FFFFFF"/>
              </a:solidFill>
              <a:latin typeface="Open Sans"/>
              <a:ea typeface="Open Sans"/>
              <a:cs typeface="Open Sans"/>
              <a:sym typeface="Open Sans"/>
            </a:endParaRPr>
          </a:p>
        </p:txBody>
      </p:sp>
      <p:sp>
        <p:nvSpPr>
          <p:cNvPr id="97" name="Google Shape;97;p17"/>
          <p:cNvSpPr txBox="1"/>
          <p:nvPr/>
        </p:nvSpPr>
        <p:spPr>
          <a:xfrm>
            <a:off x="514350" y="1800310"/>
            <a:ext cx="3904200" cy="2616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b="1" lang="en" sz="1700">
                <a:solidFill>
                  <a:srgbClr val="FFA4D8"/>
                </a:solidFill>
                <a:latin typeface="Open Sans"/>
                <a:ea typeface="Open Sans"/>
                <a:cs typeface="Open Sans"/>
                <a:sym typeface="Open Sans"/>
              </a:rPr>
              <a:t>Collaboration Compatibility Score</a:t>
            </a:r>
            <a:endParaRPr sz="700"/>
          </a:p>
        </p:txBody>
      </p:sp>
      <p:sp>
        <p:nvSpPr>
          <p:cNvPr id="98" name="Google Shape;98;p17"/>
          <p:cNvSpPr txBox="1"/>
          <p:nvPr/>
        </p:nvSpPr>
        <p:spPr>
          <a:xfrm>
            <a:off x="526075" y="3442775"/>
            <a:ext cx="5268300" cy="1120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
                <a:solidFill>
                  <a:srgbClr val="FFFFFF"/>
                </a:solidFill>
                <a:latin typeface="Open Sans"/>
                <a:ea typeface="Open Sans"/>
                <a:cs typeface="Open Sans"/>
                <a:sym typeface="Open Sans"/>
              </a:rPr>
              <a:t>Weighting according to Professor Fei’s insights:</a:t>
            </a:r>
            <a:endParaRPr b="1">
              <a:solidFill>
                <a:srgbClr val="FFFFFF"/>
              </a:solidFill>
              <a:latin typeface="Open Sans"/>
              <a:ea typeface="Open Sans"/>
              <a:cs typeface="Open Sans"/>
              <a:sym typeface="Open Sans"/>
            </a:endParaRPr>
          </a:p>
          <a:p>
            <a:pPr indent="0" lvl="0" marL="0" marR="0" rtl="0" algn="l">
              <a:lnSpc>
                <a:spcPct val="140000"/>
              </a:lnSpc>
              <a:spcBef>
                <a:spcPts val="0"/>
              </a:spcBef>
              <a:spcAft>
                <a:spcPts val="0"/>
              </a:spcAft>
              <a:buNone/>
            </a:pPr>
            <a:r>
              <a:rPr lang="en">
                <a:solidFill>
                  <a:srgbClr val="FFFFFF"/>
                </a:solidFill>
                <a:latin typeface="Open Sans"/>
                <a:ea typeface="Open Sans"/>
                <a:cs typeface="Open Sans"/>
                <a:sym typeface="Open Sans"/>
              </a:rPr>
              <a:t>Topic Match - 45% “</a:t>
            </a:r>
            <a:r>
              <a:rPr lang="en">
                <a:solidFill>
                  <a:srgbClr val="FFFFFF"/>
                </a:solidFill>
                <a:latin typeface="Open Sans"/>
                <a:ea typeface="Open Sans"/>
                <a:cs typeface="Open Sans"/>
                <a:sym typeface="Open Sans"/>
              </a:rPr>
              <a:t>Research</a:t>
            </a:r>
            <a:r>
              <a:rPr lang="en">
                <a:solidFill>
                  <a:srgbClr val="FFFFFF"/>
                </a:solidFill>
                <a:latin typeface="Open Sans"/>
                <a:ea typeface="Open Sans"/>
                <a:cs typeface="Open Sans"/>
                <a:sym typeface="Open Sans"/>
              </a:rPr>
              <a:t> </a:t>
            </a:r>
            <a:r>
              <a:rPr lang="en">
                <a:solidFill>
                  <a:srgbClr val="FFFFFF"/>
                </a:solidFill>
                <a:latin typeface="Open Sans"/>
                <a:ea typeface="Open Sans"/>
                <a:cs typeface="Open Sans"/>
                <a:sym typeface="Open Sans"/>
              </a:rPr>
              <a:t>interest</a:t>
            </a:r>
            <a:r>
              <a:rPr lang="en">
                <a:solidFill>
                  <a:srgbClr val="FFFFFF"/>
                </a:solidFill>
                <a:latin typeface="Open Sans"/>
                <a:ea typeface="Open Sans"/>
                <a:cs typeface="Open Sans"/>
                <a:sym typeface="Open Sans"/>
              </a:rPr>
              <a:t> is the first priority”</a:t>
            </a:r>
            <a:endParaRPr>
              <a:solidFill>
                <a:srgbClr val="FFFFFF"/>
              </a:solidFill>
              <a:latin typeface="Open Sans"/>
              <a:ea typeface="Open Sans"/>
              <a:cs typeface="Open Sans"/>
              <a:sym typeface="Open Sans"/>
            </a:endParaRPr>
          </a:p>
          <a:p>
            <a:pPr indent="0" lvl="0" marL="0" marR="0" rtl="0" algn="l">
              <a:lnSpc>
                <a:spcPct val="140000"/>
              </a:lnSpc>
              <a:spcBef>
                <a:spcPts val="0"/>
              </a:spcBef>
              <a:spcAft>
                <a:spcPts val="0"/>
              </a:spcAft>
              <a:buNone/>
            </a:pPr>
            <a:r>
              <a:rPr lang="en">
                <a:solidFill>
                  <a:srgbClr val="FFFFFF"/>
                </a:solidFill>
                <a:latin typeface="Open Sans"/>
                <a:ea typeface="Open Sans"/>
                <a:cs typeface="Open Sans"/>
                <a:sym typeface="Open Sans"/>
              </a:rPr>
              <a:t>Method Match - 40% looking for “complementary skill set”</a:t>
            </a:r>
            <a:endParaRPr>
              <a:solidFill>
                <a:srgbClr val="FFFFFF"/>
              </a:solidFill>
              <a:latin typeface="Open Sans"/>
              <a:ea typeface="Open Sans"/>
              <a:cs typeface="Open Sans"/>
              <a:sym typeface="Open Sans"/>
            </a:endParaRPr>
          </a:p>
          <a:p>
            <a:pPr indent="0" lvl="0" marL="0" marR="0" rtl="0" algn="l">
              <a:lnSpc>
                <a:spcPct val="140000"/>
              </a:lnSpc>
              <a:spcBef>
                <a:spcPts val="0"/>
              </a:spcBef>
              <a:spcAft>
                <a:spcPts val="0"/>
              </a:spcAft>
              <a:buNone/>
            </a:pPr>
            <a:r>
              <a:rPr lang="en">
                <a:solidFill>
                  <a:srgbClr val="FFFFFF"/>
                </a:solidFill>
                <a:latin typeface="Open Sans"/>
                <a:ea typeface="Open Sans"/>
                <a:cs typeface="Open Sans"/>
                <a:sym typeface="Open Sans"/>
              </a:rPr>
              <a:t>Career Stage - 15% “ Career stage matters</a:t>
            </a:r>
            <a:endParaRPr>
              <a:solidFill>
                <a:srgbClr val="FFFFFF"/>
              </a:solidFill>
              <a:latin typeface="Open Sans"/>
              <a:ea typeface="Open Sans"/>
              <a:cs typeface="Open Sans"/>
              <a:sym typeface="Open Sans"/>
            </a:endParaRPr>
          </a:p>
        </p:txBody>
      </p:sp>
      <p:sp>
        <p:nvSpPr>
          <p:cNvPr id="99" name="Google Shape;99;p17"/>
          <p:cNvSpPr txBox="1"/>
          <p:nvPr/>
        </p:nvSpPr>
        <p:spPr>
          <a:xfrm>
            <a:off x="526075" y="3048000"/>
            <a:ext cx="3088800" cy="2616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b="1" lang="en" sz="1700">
                <a:solidFill>
                  <a:srgbClr val="7EDBFF"/>
                </a:solidFill>
                <a:latin typeface="Open Sans"/>
                <a:ea typeface="Open Sans"/>
                <a:cs typeface="Open Sans"/>
                <a:sym typeface="Open Sans"/>
              </a:rPr>
              <a:t>Weighting of Score</a:t>
            </a:r>
            <a:endParaRPr sz="700"/>
          </a:p>
        </p:txBody>
      </p:sp>
      <p:sp>
        <p:nvSpPr>
          <p:cNvPr id="100" name="Google Shape;100;p17"/>
          <p:cNvSpPr/>
          <p:nvPr/>
        </p:nvSpPr>
        <p:spPr>
          <a:xfrm rot="-5400000">
            <a:off x="5939334" y="2247962"/>
            <a:ext cx="5760020" cy="649312"/>
          </a:xfrm>
          <a:custGeom>
            <a:rect b="b" l="l" r="r" t="t"/>
            <a:pathLst>
              <a:path extrusionOk="0" h="1298623" w="11520040">
                <a:moveTo>
                  <a:pt x="0" y="0"/>
                </a:moveTo>
                <a:lnTo>
                  <a:pt x="11520040" y="0"/>
                </a:lnTo>
                <a:lnTo>
                  <a:pt x="11520040" y="1298623"/>
                </a:lnTo>
                <a:lnTo>
                  <a:pt x="0" y="1298623"/>
                </a:lnTo>
                <a:lnTo>
                  <a:pt x="0" y="0"/>
                </a:lnTo>
                <a:close/>
              </a:path>
            </a:pathLst>
          </a:custGeom>
          <a:blipFill rotWithShape="1">
            <a:blip r:embed="rId3">
              <a:alphaModFix/>
            </a:blip>
            <a:stretch>
              <a:fillRect b="0" l="0" r="0" t="0"/>
            </a:stretch>
          </a:blipFill>
          <a:ln>
            <a:noFill/>
          </a:ln>
        </p:spPr>
      </p:sp>
      <p:sp>
        <p:nvSpPr>
          <p:cNvPr id="101" name="Google Shape;101;p17"/>
          <p:cNvSpPr/>
          <p:nvPr/>
        </p:nvSpPr>
        <p:spPr>
          <a:xfrm>
            <a:off x="526066" y="1219329"/>
            <a:ext cx="1129640" cy="127341"/>
          </a:xfrm>
          <a:custGeom>
            <a:rect b="b" l="l" r="r" t="t"/>
            <a:pathLst>
              <a:path extrusionOk="0" h="254682" w="2259280">
                <a:moveTo>
                  <a:pt x="0" y="0"/>
                </a:moveTo>
                <a:lnTo>
                  <a:pt x="2259280" y="0"/>
                </a:lnTo>
                <a:lnTo>
                  <a:pt x="2259280" y="254683"/>
                </a:lnTo>
                <a:lnTo>
                  <a:pt x="0" y="254683"/>
                </a:lnTo>
                <a:lnTo>
                  <a:pt x="0" y="0"/>
                </a:lnTo>
                <a:close/>
              </a:path>
            </a:pathLst>
          </a:custGeom>
          <a:blipFill rotWithShape="1">
            <a:blip r:embed="rId3">
              <a:alphaModFix/>
            </a:blip>
            <a:stretch>
              <a:fillRect b="0" l="0" r="0" t="0"/>
            </a:stretch>
          </a:blipFill>
          <a:ln>
            <a:noFill/>
          </a:ln>
        </p:spPr>
      </p:sp>
      <p:sp>
        <p:nvSpPr>
          <p:cNvPr id="102" name="Google Shape;102;p17"/>
          <p:cNvSpPr txBox="1"/>
          <p:nvPr/>
        </p:nvSpPr>
        <p:spPr>
          <a:xfrm>
            <a:off x="5719675" y="1564150"/>
            <a:ext cx="2367300" cy="2941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rPr>
              <a:t>*insert some image</a:t>
            </a:r>
            <a:endParaRPr sz="1800">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8"/>
          <p:cNvSpPr txBox="1"/>
          <p:nvPr/>
        </p:nvSpPr>
        <p:spPr>
          <a:xfrm>
            <a:off x="1072872" y="2363125"/>
            <a:ext cx="3740700" cy="1600800"/>
          </a:xfrm>
          <a:prstGeom prst="rect">
            <a:avLst/>
          </a:prstGeom>
          <a:noFill/>
          <a:ln>
            <a:noFill/>
          </a:ln>
        </p:spPr>
        <p:txBody>
          <a:bodyPr anchorCtr="0" anchor="t" bIns="0" lIns="0" spcFirstLastPara="1" rIns="0" wrap="square" tIns="0">
            <a:spAutoFit/>
          </a:bodyPr>
          <a:lstStyle/>
          <a:p>
            <a:pPr indent="-311150" lvl="0" marL="457200" marR="0" rtl="0" algn="just">
              <a:lnSpc>
                <a:spcPct val="100000"/>
              </a:lnSpc>
              <a:spcBef>
                <a:spcPts val="0"/>
              </a:spcBef>
              <a:spcAft>
                <a:spcPts val="0"/>
              </a:spcAft>
              <a:buSzPts val="1300"/>
              <a:buFont typeface="Open Sans"/>
              <a:buChar char="●"/>
            </a:pPr>
            <a:r>
              <a:rPr b="1" lang="en" sz="1300">
                <a:latin typeface="Open Sans"/>
                <a:ea typeface="Open Sans"/>
                <a:cs typeface="Open Sans"/>
                <a:sym typeface="Open Sans"/>
              </a:rPr>
              <a:t>Objective</a:t>
            </a:r>
            <a:r>
              <a:rPr lang="en" sz="1300">
                <a:latin typeface="Open Sans"/>
                <a:ea typeface="Open Sans"/>
                <a:cs typeface="Open Sans"/>
                <a:sym typeface="Open Sans"/>
              </a:rPr>
              <a:t>: showcase to potential </a:t>
            </a:r>
            <a:r>
              <a:rPr lang="en" sz="1300">
                <a:latin typeface="Open Sans"/>
                <a:ea typeface="Open Sans"/>
                <a:cs typeface="Open Sans"/>
                <a:sym typeface="Open Sans"/>
              </a:rPr>
              <a:t>donors</a:t>
            </a:r>
            <a:r>
              <a:rPr lang="en" sz="1300">
                <a:latin typeface="Open Sans"/>
                <a:ea typeface="Open Sans"/>
                <a:cs typeface="Open Sans"/>
                <a:sym typeface="Open Sans"/>
              </a:rPr>
              <a:t> and college leadership past and current research striving towards sustainability development.</a:t>
            </a:r>
            <a:endParaRPr sz="1300">
              <a:latin typeface="Open Sans"/>
              <a:ea typeface="Open Sans"/>
              <a:cs typeface="Open Sans"/>
              <a:sym typeface="Open Sans"/>
            </a:endParaRPr>
          </a:p>
          <a:p>
            <a:pPr indent="0" lvl="0" marL="457200" marR="0" rtl="0" algn="just">
              <a:lnSpc>
                <a:spcPct val="100000"/>
              </a:lnSpc>
              <a:spcBef>
                <a:spcPts val="0"/>
              </a:spcBef>
              <a:spcAft>
                <a:spcPts val="0"/>
              </a:spcAft>
              <a:buNone/>
            </a:pPr>
            <a:r>
              <a:t/>
            </a:r>
            <a:endParaRPr sz="1300">
              <a:latin typeface="Open Sans"/>
              <a:ea typeface="Open Sans"/>
              <a:cs typeface="Open Sans"/>
              <a:sym typeface="Open Sans"/>
            </a:endParaRPr>
          </a:p>
          <a:p>
            <a:pPr indent="-311150" lvl="0" marL="457200" marR="0" rtl="0" algn="just">
              <a:lnSpc>
                <a:spcPct val="100000"/>
              </a:lnSpc>
              <a:spcBef>
                <a:spcPts val="0"/>
              </a:spcBef>
              <a:spcAft>
                <a:spcPts val="0"/>
              </a:spcAft>
              <a:buSzPts val="1300"/>
              <a:buFont typeface="Open Sans"/>
              <a:buChar char="●"/>
            </a:pPr>
            <a:r>
              <a:rPr lang="en" sz="1300">
                <a:latin typeface="Open Sans"/>
                <a:ea typeface="Open Sans"/>
                <a:cs typeface="Open Sans"/>
                <a:sym typeface="Open Sans"/>
              </a:rPr>
              <a:t>Utilizes</a:t>
            </a:r>
            <a:r>
              <a:rPr lang="en" sz="1300">
                <a:latin typeface="Open Sans"/>
                <a:ea typeface="Open Sans"/>
                <a:cs typeface="Open Sans"/>
                <a:sym typeface="Open Sans"/>
              </a:rPr>
              <a:t> a </a:t>
            </a:r>
            <a:r>
              <a:rPr lang="en" sz="1300">
                <a:latin typeface="Open Sans"/>
                <a:ea typeface="Open Sans"/>
                <a:cs typeface="Open Sans"/>
                <a:sym typeface="Open Sans"/>
              </a:rPr>
              <a:t>clickable</a:t>
            </a:r>
            <a:r>
              <a:rPr lang="en" sz="1300">
                <a:latin typeface="Open Sans"/>
                <a:ea typeface="Open Sans"/>
                <a:cs typeface="Open Sans"/>
                <a:sym typeface="Open Sans"/>
              </a:rPr>
              <a:t> wheels to reveal data corresponding to each </a:t>
            </a:r>
            <a:r>
              <a:rPr lang="en" sz="1300">
                <a:latin typeface="Open Sans"/>
                <a:ea typeface="Open Sans"/>
                <a:cs typeface="Open Sans"/>
                <a:sym typeface="Open Sans"/>
              </a:rPr>
              <a:t>sustainability</a:t>
            </a:r>
            <a:r>
              <a:rPr lang="en" sz="1300">
                <a:latin typeface="Open Sans"/>
                <a:ea typeface="Open Sans"/>
                <a:cs typeface="Open Sans"/>
                <a:sym typeface="Open Sans"/>
              </a:rPr>
              <a:t> goal</a:t>
            </a:r>
            <a:endParaRPr sz="1300">
              <a:latin typeface="Open Sans"/>
              <a:ea typeface="Open Sans"/>
              <a:cs typeface="Open Sans"/>
              <a:sym typeface="Open Sans"/>
            </a:endParaRPr>
          </a:p>
          <a:p>
            <a:pPr indent="0" lvl="0" marL="0" marR="0" rtl="0" algn="just">
              <a:lnSpc>
                <a:spcPct val="100000"/>
              </a:lnSpc>
              <a:spcBef>
                <a:spcPts val="0"/>
              </a:spcBef>
              <a:spcAft>
                <a:spcPts val="0"/>
              </a:spcAft>
              <a:buNone/>
            </a:pPr>
            <a:r>
              <a:t/>
            </a:r>
            <a:endParaRPr sz="1300">
              <a:latin typeface="Open Sans"/>
              <a:ea typeface="Open Sans"/>
              <a:cs typeface="Open Sans"/>
              <a:sym typeface="Open Sans"/>
            </a:endParaRPr>
          </a:p>
        </p:txBody>
      </p:sp>
      <p:sp>
        <p:nvSpPr>
          <p:cNvPr id="108" name="Google Shape;108;p18"/>
          <p:cNvSpPr/>
          <p:nvPr/>
        </p:nvSpPr>
        <p:spPr>
          <a:xfrm>
            <a:off x="1026528" y="1505403"/>
            <a:ext cx="1386484" cy="156295"/>
          </a:xfrm>
          <a:custGeom>
            <a:rect b="b" l="l" r="r" t="t"/>
            <a:pathLst>
              <a:path extrusionOk="0" h="312589" w="2772968">
                <a:moveTo>
                  <a:pt x="0" y="0"/>
                </a:moveTo>
                <a:lnTo>
                  <a:pt x="2772968" y="0"/>
                </a:lnTo>
                <a:lnTo>
                  <a:pt x="2772968" y="312589"/>
                </a:lnTo>
                <a:lnTo>
                  <a:pt x="0" y="312589"/>
                </a:lnTo>
                <a:lnTo>
                  <a:pt x="0" y="0"/>
                </a:lnTo>
                <a:close/>
              </a:path>
            </a:pathLst>
          </a:custGeom>
          <a:blipFill rotWithShape="1">
            <a:blip r:embed="rId3">
              <a:alphaModFix/>
            </a:blip>
            <a:stretch>
              <a:fillRect b="0" l="0" r="0" t="0"/>
            </a:stretch>
          </a:blipFill>
          <a:ln>
            <a:noFill/>
          </a:ln>
        </p:spPr>
      </p:sp>
      <p:sp>
        <p:nvSpPr>
          <p:cNvPr id="109" name="Google Shape;109;p18"/>
          <p:cNvSpPr txBox="1"/>
          <p:nvPr/>
        </p:nvSpPr>
        <p:spPr>
          <a:xfrm>
            <a:off x="1026528" y="688751"/>
            <a:ext cx="5953500" cy="738900"/>
          </a:xfrm>
          <a:prstGeom prst="rect">
            <a:avLst/>
          </a:prstGeom>
          <a:noFill/>
          <a:ln>
            <a:noFill/>
          </a:ln>
        </p:spPr>
        <p:txBody>
          <a:bodyPr anchorCtr="0" anchor="t" bIns="0" lIns="0" spcFirstLastPara="1" rIns="0" wrap="square" tIns="0">
            <a:spAutoFit/>
          </a:bodyPr>
          <a:lstStyle/>
          <a:p>
            <a:pPr indent="0" lvl="0" marL="0" marR="0" rtl="0" algn="l">
              <a:lnSpc>
                <a:spcPct val="140004"/>
              </a:lnSpc>
              <a:spcBef>
                <a:spcPts val="0"/>
              </a:spcBef>
              <a:spcAft>
                <a:spcPts val="0"/>
              </a:spcAft>
              <a:buNone/>
            </a:pPr>
            <a:r>
              <a:rPr b="1" lang="en" sz="4800">
                <a:latin typeface="League Spartan"/>
                <a:ea typeface="League Spartan"/>
                <a:cs typeface="League Spartan"/>
                <a:sym typeface="League Spartan"/>
              </a:rPr>
              <a:t>Current</a:t>
            </a:r>
            <a:r>
              <a:rPr b="1" lang="en" sz="4800">
                <a:latin typeface="League Spartan"/>
                <a:ea typeface="League Spartan"/>
                <a:cs typeface="League Spartan"/>
                <a:sym typeface="League Spartan"/>
              </a:rPr>
              <a:t> Statistics</a:t>
            </a:r>
            <a:endParaRPr sz="700"/>
          </a:p>
        </p:txBody>
      </p:sp>
      <p:sp>
        <p:nvSpPr>
          <p:cNvPr id="110" name="Google Shape;110;p18"/>
          <p:cNvSpPr/>
          <p:nvPr/>
        </p:nvSpPr>
        <p:spPr>
          <a:xfrm rot="-5400000">
            <a:off x="-2555354" y="2247962"/>
            <a:ext cx="5760020" cy="649312"/>
          </a:xfrm>
          <a:custGeom>
            <a:rect b="b" l="l" r="r" t="t"/>
            <a:pathLst>
              <a:path extrusionOk="0" h="1298623" w="11520040">
                <a:moveTo>
                  <a:pt x="0" y="0"/>
                </a:moveTo>
                <a:lnTo>
                  <a:pt x="11520040" y="0"/>
                </a:lnTo>
                <a:lnTo>
                  <a:pt x="11520040" y="1298623"/>
                </a:lnTo>
                <a:lnTo>
                  <a:pt x="0" y="1298623"/>
                </a:lnTo>
                <a:lnTo>
                  <a:pt x="0" y="0"/>
                </a:lnTo>
                <a:close/>
              </a:path>
            </a:pathLst>
          </a:custGeom>
          <a:blipFill rotWithShape="1">
            <a:blip r:embed="rId3">
              <a:alphaModFix/>
            </a:blip>
            <a:stretch>
              <a:fillRect b="0" l="0" r="0" t="0"/>
            </a:stretch>
          </a:blipFill>
          <a:ln>
            <a:noFill/>
          </a:ln>
        </p:spPr>
      </p:sp>
      <p:sp>
        <p:nvSpPr>
          <p:cNvPr id="111" name="Google Shape;111;p18"/>
          <p:cNvSpPr txBox="1"/>
          <p:nvPr/>
        </p:nvSpPr>
        <p:spPr>
          <a:xfrm>
            <a:off x="1026513" y="322462"/>
            <a:ext cx="3833400" cy="366300"/>
          </a:xfrm>
          <a:prstGeom prst="rect">
            <a:avLst/>
          </a:prstGeom>
          <a:noFill/>
          <a:ln>
            <a:noFill/>
          </a:ln>
        </p:spPr>
        <p:txBody>
          <a:bodyPr anchorCtr="0" anchor="t" bIns="0" lIns="0" spcFirstLastPara="1" rIns="0" wrap="square" tIns="0">
            <a:spAutoFit/>
          </a:bodyPr>
          <a:lstStyle/>
          <a:p>
            <a:pPr indent="0" lvl="0" marL="0" rtl="0" algn="l">
              <a:lnSpc>
                <a:spcPct val="140025"/>
              </a:lnSpc>
              <a:spcBef>
                <a:spcPts val="0"/>
              </a:spcBef>
              <a:spcAft>
                <a:spcPts val="0"/>
              </a:spcAft>
              <a:buNone/>
            </a:pPr>
            <a:r>
              <a:rPr lang="en" sz="1200">
                <a:latin typeface="Open Sans"/>
                <a:ea typeface="Open Sans"/>
                <a:cs typeface="Open Sans"/>
                <a:sym typeface="Open Sans"/>
              </a:rPr>
              <a:t>2025 Sustainability Expertise Case Competition</a:t>
            </a:r>
            <a:endParaRPr sz="700"/>
          </a:p>
          <a:p>
            <a:pPr indent="0" lvl="0" marL="0" marR="0" rtl="0" algn="l">
              <a:lnSpc>
                <a:spcPct val="140025"/>
              </a:lnSpc>
              <a:spcBef>
                <a:spcPts val="0"/>
              </a:spcBef>
              <a:spcAft>
                <a:spcPts val="0"/>
              </a:spcAft>
              <a:buNone/>
            </a:pPr>
            <a:r>
              <a:t/>
            </a:r>
            <a:endParaRPr sz="700"/>
          </a:p>
        </p:txBody>
      </p:sp>
      <p:pic>
        <p:nvPicPr>
          <p:cNvPr id="112" name="Google Shape;112;p18"/>
          <p:cNvPicPr preferRelativeResize="0"/>
          <p:nvPr/>
        </p:nvPicPr>
        <p:blipFill>
          <a:blip r:embed="rId4">
            <a:alphaModFix/>
          </a:blip>
          <a:stretch>
            <a:fillRect/>
          </a:stretch>
        </p:blipFill>
        <p:spPr>
          <a:xfrm>
            <a:off x="5406241" y="1427650"/>
            <a:ext cx="3488450" cy="33076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grpSp>
        <p:nvGrpSpPr>
          <p:cNvPr id="117" name="Google Shape;117;p19"/>
          <p:cNvGrpSpPr/>
          <p:nvPr/>
        </p:nvGrpSpPr>
        <p:grpSpPr>
          <a:xfrm>
            <a:off x="3336299" y="-103990"/>
            <a:ext cx="5807893" cy="5575427"/>
            <a:chOff x="0" y="-47625"/>
            <a:chExt cx="3059201" cy="2936754"/>
          </a:xfrm>
        </p:grpSpPr>
        <p:sp>
          <p:nvSpPr>
            <p:cNvPr id="118" name="Google Shape;118;p19"/>
            <p:cNvSpPr/>
            <p:nvPr/>
          </p:nvSpPr>
          <p:spPr>
            <a:xfrm>
              <a:off x="0" y="0"/>
              <a:ext cx="3059201" cy="2889129"/>
            </a:xfrm>
            <a:custGeom>
              <a:rect b="b" l="l" r="r" t="t"/>
              <a:pathLst>
                <a:path extrusionOk="0" h="2889129" w="3059201">
                  <a:moveTo>
                    <a:pt x="0" y="0"/>
                  </a:moveTo>
                  <a:lnTo>
                    <a:pt x="3059201" y="0"/>
                  </a:lnTo>
                  <a:lnTo>
                    <a:pt x="3059201" y="2889129"/>
                  </a:lnTo>
                  <a:lnTo>
                    <a:pt x="0" y="2889129"/>
                  </a:lnTo>
                  <a:close/>
                </a:path>
              </a:pathLst>
            </a:custGeom>
            <a:solidFill>
              <a:srgbClr val="282828"/>
            </a:solidFill>
            <a:ln>
              <a:noFill/>
            </a:ln>
          </p:spPr>
        </p:sp>
        <p:sp>
          <p:nvSpPr>
            <p:cNvPr id="119" name="Google Shape;119;p19"/>
            <p:cNvSpPr txBox="1"/>
            <p:nvPr/>
          </p:nvSpPr>
          <p:spPr>
            <a:xfrm>
              <a:off x="0" y="-47625"/>
              <a:ext cx="3059100" cy="2936700"/>
            </a:xfrm>
            <a:prstGeom prst="rect">
              <a:avLst/>
            </a:prstGeom>
            <a:noFill/>
            <a:ln>
              <a:noFill/>
            </a:ln>
          </p:spPr>
          <p:txBody>
            <a:bodyPr anchorCtr="0" anchor="ctr" bIns="25400" lIns="25400" spcFirstLastPara="1" rIns="25400" wrap="square" tIns="25400">
              <a:noAutofit/>
            </a:bodyPr>
            <a:lstStyle/>
            <a:p>
              <a:pPr indent="0" lvl="0" marL="0" marR="0" rtl="0" algn="ctr">
                <a:lnSpc>
                  <a:spcPct val="178888"/>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20" name="Google Shape;120;p19"/>
          <p:cNvSpPr/>
          <p:nvPr/>
        </p:nvSpPr>
        <p:spPr>
          <a:xfrm rot="-4604648">
            <a:off x="600747" y="2358868"/>
            <a:ext cx="6154400" cy="649717"/>
          </a:xfrm>
          <a:custGeom>
            <a:rect b="b" l="l" r="r" t="t"/>
            <a:pathLst>
              <a:path extrusionOk="0" h="1298623" w="11520040">
                <a:moveTo>
                  <a:pt x="0" y="0"/>
                </a:moveTo>
                <a:lnTo>
                  <a:pt x="11520040" y="0"/>
                </a:lnTo>
                <a:lnTo>
                  <a:pt x="11520040" y="1298623"/>
                </a:lnTo>
                <a:lnTo>
                  <a:pt x="0" y="1298623"/>
                </a:lnTo>
                <a:lnTo>
                  <a:pt x="0" y="0"/>
                </a:lnTo>
                <a:close/>
              </a:path>
            </a:pathLst>
          </a:custGeom>
          <a:blipFill rotWithShape="1">
            <a:blip r:embed="rId3">
              <a:alphaModFix/>
            </a:blip>
            <a:stretch>
              <a:fillRect b="0" l="0" r="0" t="0"/>
            </a:stretch>
          </a:blipFill>
          <a:ln>
            <a:noFill/>
          </a:ln>
        </p:spPr>
      </p:sp>
      <p:grpSp>
        <p:nvGrpSpPr>
          <p:cNvPr id="121" name="Google Shape;121;p19"/>
          <p:cNvGrpSpPr/>
          <p:nvPr/>
        </p:nvGrpSpPr>
        <p:grpSpPr>
          <a:xfrm rot="792544">
            <a:off x="2587764" y="-433595"/>
            <a:ext cx="1104885" cy="5795753"/>
            <a:chOff x="0" y="-47625"/>
            <a:chExt cx="582000" cy="2936754"/>
          </a:xfrm>
        </p:grpSpPr>
        <p:sp>
          <p:nvSpPr>
            <p:cNvPr id="122" name="Google Shape;122;p19"/>
            <p:cNvSpPr/>
            <p:nvPr/>
          </p:nvSpPr>
          <p:spPr>
            <a:xfrm>
              <a:off x="0" y="0"/>
              <a:ext cx="581874" cy="2889129"/>
            </a:xfrm>
            <a:custGeom>
              <a:rect b="b" l="l" r="r" t="t"/>
              <a:pathLst>
                <a:path extrusionOk="0" h="2889129" w="581874">
                  <a:moveTo>
                    <a:pt x="0" y="0"/>
                  </a:moveTo>
                  <a:lnTo>
                    <a:pt x="581874" y="0"/>
                  </a:lnTo>
                  <a:lnTo>
                    <a:pt x="581874" y="2889129"/>
                  </a:lnTo>
                  <a:lnTo>
                    <a:pt x="0" y="2889129"/>
                  </a:lnTo>
                  <a:close/>
                </a:path>
              </a:pathLst>
            </a:custGeom>
            <a:solidFill>
              <a:srgbClr val="FFFFFF"/>
            </a:solidFill>
            <a:ln>
              <a:noFill/>
            </a:ln>
          </p:spPr>
        </p:sp>
        <p:sp>
          <p:nvSpPr>
            <p:cNvPr id="123" name="Google Shape;123;p19"/>
            <p:cNvSpPr txBox="1"/>
            <p:nvPr/>
          </p:nvSpPr>
          <p:spPr>
            <a:xfrm>
              <a:off x="0" y="-47625"/>
              <a:ext cx="582000" cy="2936700"/>
            </a:xfrm>
            <a:prstGeom prst="rect">
              <a:avLst/>
            </a:prstGeom>
            <a:noFill/>
            <a:ln>
              <a:noFill/>
            </a:ln>
          </p:spPr>
          <p:txBody>
            <a:bodyPr anchorCtr="0" anchor="ctr" bIns="25400" lIns="25400" spcFirstLastPara="1" rIns="25400" wrap="square" tIns="25400">
              <a:noAutofit/>
            </a:bodyPr>
            <a:lstStyle/>
            <a:p>
              <a:pPr indent="0" lvl="0" marL="0" marR="0" rtl="0" algn="ctr">
                <a:lnSpc>
                  <a:spcPct val="178888"/>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24" name="Google Shape;124;p19"/>
          <p:cNvSpPr txBox="1"/>
          <p:nvPr/>
        </p:nvSpPr>
        <p:spPr>
          <a:xfrm>
            <a:off x="1091133" y="2073275"/>
            <a:ext cx="2755800" cy="415500"/>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None/>
            </a:pPr>
            <a:r>
              <a:rPr lang="en" sz="2700">
                <a:latin typeface="League Spartan"/>
                <a:ea typeface="League Spartan"/>
                <a:cs typeface="League Spartan"/>
                <a:sym typeface="League Spartan"/>
              </a:rPr>
              <a:t>Yuliia’s Slide</a:t>
            </a:r>
            <a:endParaRPr sz="700"/>
          </a:p>
        </p:txBody>
      </p:sp>
      <p:sp>
        <p:nvSpPr>
          <p:cNvPr id="125" name="Google Shape;125;p19"/>
          <p:cNvSpPr txBox="1"/>
          <p:nvPr/>
        </p:nvSpPr>
        <p:spPr>
          <a:xfrm>
            <a:off x="4431351" y="2207275"/>
            <a:ext cx="4198500" cy="846600"/>
          </a:xfrm>
          <a:prstGeom prst="rect">
            <a:avLst/>
          </a:prstGeom>
          <a:noFill/>
          <a:ln>
            <a:noFill/>
          </a:ln>
        </p:spPr>
        <p:txBody>
          <a:bodyPr anchorCtr="0" anchor="t" bIns="0" lIns="0" spcFirstLastPara="1" rIns="0" wrap="square" tIns="0">
            <a:spAutoFit/>
          </a:bodyPr>
          <a:lstStyle/>
          <a:p>
            <a:pPr indent="0" lvl="0" marL="0" marR="0" rtl="0" algn="just">
              <a:lnSpc>
                <a:spcPct val="200000"/>
              </a:lnSpc>
              <a:spcBef>
                <a:spcPts val="0"/>
              </a:spcBef>
              <a:spcAft>
                <a:spcPts val="0"/>
              </a:spcAft>
              <a:buNone/>
            </a:pPr>
            <a:r>
              <a:rPr b="0" i="0" lang="en" sz="1100" u="none" cap="none" strike="noStrike">
                <a:solidFill>
                  <a:srgbClr val="FFFFFF"/>
                </a:solidFill>
                <a:latin typeface="Open Sans"/>
                <a:ea typeface="Open Sans"/>
                <a:cs typeface="Open Sans"/>
                <a:sym typeface="Open Sans"/>
              </a:rPr>
              <a:t>Lorem ipsum dolor sit amet, consectetur adipiscing elit. Cras elementum ante pretium eleifend tempus. Suspendisse odio nisi, pellentesque vitae dolor sed, cursus ullamcorper tortor.</a:t>
            </a:r>
            <a:endParaRPr sz="700"/>
          </a:p>
        </p:txBody>
      </p:sp>
      <p:sp>
        <p:nvSpPr>
          <p:cNvPr id="126" name="Google Shape;126;p19"/>
          <p:cNvSpPr txBox="1"/>
          <p:nvPr/>
        </p:nvSpPr>
        <p:spPr>
          <a:xfrm>
            <a:off x="4431351" y="1965252"/>
            <a:ext cx="3088800" cy="2616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b="1" i="0" lang="en" sz="1700" u="none" cap="none" strike="noStrike">
                <a:solidFill>
                  <a:srgbClr val="FFA4D8"/>
                </a:solidFill>
                <a:latin typeface="Open Sans"/>
                <a:ea typeface="Open Sans"/>
                <a:cs typeface="Open Sans"/>
                <a:sym typeface="Open Sans"/>
              </a:rPr>
              <a:t>Theoretical Framework 1</a:t>
            </a:r>
            <a:endParaRPr sz="700"/>
          </a:p>
        </p:txBody>
      </p:sp>
      <p:sp>
        <p:nvSpPr>
          <p:cNvPr id="127" name="Google Shape;127;p19"/>
          <p:cNvSpPr txBox="1"/>
          <p:nvPr/>
        </p:nvSpPr>
        <p:spPr>
          <a:xfrm>
            <a:off x="4289840" y="3854880"/>
            <a:ext cx="4339800" cy="846600"/>
          </a:xfrm>
          <a:prstGeom prst="rect">
            <a:avLst/>
          </a:prstGeom>
          <a:noFill/>
          <a:ln>
            <a:noFill/>
          </a:ln>
        </p:spPr>
        <p:txBody>
          <a:bodyPr anchorCtr="0" anchor="t" bIns="0" lIns="0" spcFirstLastPara="1" rIns="0" wrap="square" tIns="0">
            <a:spAutoFit/>
          </a:bodyPr>
          <a:lstStyle/>
          <a:p>
            <a:pPr indent="0" lvl="0" marL="0" marR="0" rtl="0" algn="just">
              <a:lnSpc>
                <a:spcPct val="200000"/>
              </a:lnSpc>
              <a:spcBef>
                <a:spcPts val="0"/>
              </a:spcBef>
              <a:spcAft>
                <a:spcPts val="0"/>
              </a:spcAft>
              <a:buNone/>
            </a:pPr>
            <a:r>
              <a:rPr b="0" i="0" lang="en" sz="1100" u="none" cap="none" strike="noStrike">
                <a:solidFill>
                  <a:srgbClr val="FFFFFF"/>
                </a:solidFill>
                <a:latin typeface="Open Sans"/>
                <a:ea typeface="Open Sans"/>
                <a:cs typeface="Open Sans"/>
                <a:sym typeface="Open Sans"/>
              </a:rPr>
              <a:t>Lorem ipsum dolor sit amet, consectetur adipiscing elit. Cras elementum ante pretium eleifend tempus. Suspendisse odio nisi, pellentesque vitae dolor sed, cursus ullamcorper tortor.</a:t>
            </a:r>
            <a:endParaRPr sz="700"/>
          </a:p>
        </p:txBody>
      </p:sp>
      <p:sp>
        <p:nvSpPr>
          <p:cNvPr id="128" name="Google Shape;128;p19"/>
          <p:cNvSpPr txBox="1"/>
          <p:nvPr/>
        </p:nvSpPr>
        <p:spPr>
          <a:xfrm>
            <a:off x="4289840" y="3612857"/>
            <a:ext cx="3088800" cy="2616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b="1" i="0" lang="en" sz="1700" u="none" cap="none" strike="noStrike">
                <a:solidFill>
                  <a:srgbClr val="7EDBFF"/>
                </a:solidFill>
                <a:latin typeface="Open Sans"/>
                <a:ea typeface="Open Sans"/>
                <a:cs typeface="Open Sans"/>
                <a:sym typeface="Open Sans"/>
              </a:rPr>
              <a:t>Theoretical Framework 2</a:t>
            </a:r>
            <a:endParaRPr sz="700"/>
          </a:p>
        </p:txBody>
      </p:sp>
      <p:sp>
        <p:nvSpPr>
          <p:cNvPr id="129" name="Google Shape;129;p19"/>
          <p:cNvSpPr txBox="1"/>
          <p:nvPr/>
        </p:nvSpPr>
        <p:spPr>
          <a:xfrm>
            <a:off x="5010088" y="376987"/>
            <a:ext cx="3833400" cy="366300"/>
          </a:xfrm>
          <a:prstGeom prst="rect">
            <a:avLst/>
          </a:prstGeom>
          <a:noFill/>
          <a:ln>
            <a:noFill/>
          </a:ln>
        </p:spPr>
        <p:txBody>
          <a:bodyPr anchorCtr="0" anchor="t" bIns="0" lIns="0" spcFirstLastPara="1" rIns="0" wrap="square" tIns="0">
            <a:spAutoFit/>
          </a:bodyPr>
          <a:lstStyle/>
          <a:p>
            <a:pPr indent="0" lvl="0" marL="0" rtl="0" algn="r">
              <a:lnSpc>
                <a:spcPct val="140025"/>
              </a:lnSpc>
              <a:spcBef>
                <a:spcPts val="0"/>
              </a:spcBef>
              <a:spcAft>
                <a:spcPts val="0"/>
              </a:spcAft>
              <a:buNone/>
            </a:pPr>
            <a:r>
              <a:rPr lang="en" sz="1200">
                <a:solidFill>
                  <a:schemeClr val="lt1"/>
                </a:solidFill>
                <a:latin typeface="Open Sans"/>
                <a:ea typeface="Open Sans"/>
                <a:cs typeface="Open Sans"/>
                <a:sym typeface="Open Sans"/>
              </a:rPr>
              <a:t>2025 Sustainability Expertise Case Competition</a:t>
            </a:r>
            <a:endParaRPr sz="700">
              <a:solidFill>
                <a:schemeClr val="lt1"/>
              </a:solidFill>
            </a:endParaRPr>
          </a:p>
          <a:p>
            <a:pPr indent="0" lvl="0" marL="0" marR="0" rtl="0" algn="r">
              <a:lnSpc>
                <a:spcPct val="140025"/>
              </a:lnSpc>
              <a:spcBef>
                <a:spcPts val="0"/>
              </a:spcBef>
              <a:spcAft>
                <a:spcPts val="0"/>
              </a:spcAft>
              <a:buNone/>
            </a:pPr>
            <a:r>
              <a:t/>
            </a:r>
            <a:endParaRPr sz="700">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82828"/>
        </a:solidFill>
      </p:bgPr>
    </p:bg>
    <p:spTree>
      <p:nvGrpSpPr>
        <p:cNvPr id="133" name="Shape 133"/>
        <p:cNvGrpSpPr/>
        <p:nvPr/>
      </p:nvGrpSpPr>
      <p:grpSpPr>
        <a:xfrm>
          <a:off x="0" y="0"/>
          <a:ext cx="0" cy="0"/>
          <a:chOff x="0" y="0"/>
          <a:chExt cx="0" cy="0"/>
        </a:xfrm>
      </p:grpSpPr>
      <p:sp>
        <p:nvSpPr>
          <p:cNvPr id="134" name="Google Shape;134;p20"/>
          <p:cNvSpPr/>
          <p:nvPr/>
        </p:nvSpPr>
        <p:spPr>
          <a:xfrm>
            <a:off x="3673041" y="2906970"/>
            <a:ext cx="1797899" cy="202672"/>
          </a:xfrm>
          <a:custGeom>
            <a:rect b="b" l="l" r="r" t="t"/>
            <a:pathLst>
              <a:path extrusionOk="0" h="405345" w="3595798">
                <a:moveTo>
                  <a:pt x="0" y="0"/>
                </a:moveTo>
                <a:lnTo>
                  <a:pt x="3595799" y="0"/>
                </a:lnTo>
                <a:lnTo>
                  <a:pt x="3595799" y="405344"/>
                </a:lnTo>
                <a:lnTo>
                  <a:pt x="0" y="405344"/>
                </a:lnTo>
                <a:lnTo>
                  <a:pt x="0" y="0"/>
                </a:lnTo>
                <a:close/>
              </a:path>
            </a:pathLst>
          </a:custGeom>
          <a:blipFill rotWithShape="1">
            <a:blip r:embed="rId3">
              <a:alphaModFix/>
            </a:blip>
            <a:stretch>
              <a:fillRect b="0" l="0" r="0" t="0"/>
            </a:stretch>
          </a:blipFill>
          <a:ln>
            <a:noFill/>
          </a:ln>
        </p:spPr>
      </p:sp>
      <p:sp>
        <p:nvSpPr>
          <p:cNvPr id="135" name="Google Shape;135;p20"/>
          <p:cNvSpPr txBox="1"/>
          <p:nvPr/>
        </p:nvSpPr>
        <p:spPr>
          <a:xfrm>
            <a:off x="3673045" y="2035588"/>
            <a:ext cx="1797900" cy="738900"/>
          </a:xfrm>
          <a:prstGeom prst="rect">
            <a:avLst/>
          </a:prstGeom>
          <a:noFill/>
          <a:ln>
            <a:noFill/>
          </a:ln>
        </p:spPr>
        <p:txBody>
          <a:bodyPr anchorCtr="0" anchor="t" bIns="0" lIns="0" spcFirstLastPara="1" rIns="0" wrap="square" tIns="0">
            <a:spAutoFit/>
          </a:bodyPr>
          <a:lstStyle/>
          <a:p>
            <a:pPr indent="0" lvl="0" marL="0" marR="0" rtl="0" algn="l">
              <a:lnSpc>
                <a:spcPct val="140004"/>
              </a:lnSpc>
              <a:spcBef>
                <a:spcPts val="0"/>
              </a:spcBef>
              <a:spcAft>
                <a:spcPts val="0"/>
              </a:spcAft>
              <a:buNone/>
            </a:pPr>
            <a:r>
              <a:rPr b="1" lang="en" sz="4800">
                <a:solidFill>
                  <a:srgbClr val="FFFFFF"/>
                </a:solidFill>
                <a:latin typeface="League Spartan"/>
                <a:ea typeface="League Spartan"/>
                <a:cs typeface="League Spartan"/>
                <a:sym typeface="League Spartan"/>
              </a:rPr>
              <a:t>Q &amp; A</a:t>
            </a:r>
            <a:endParaRPr sz="700"/>
          </a:p>
        </p:txBody>
      </p:sp>
      <p:sp>
        <p:nvSpPr>
          <p:cNvPr id="136" name="Google Shape;136;p20"/>
          <p:cNvSpPr/>
          <p:nvPr/>
        </p:nvSpPr>
        <p:spPr>
          <a:xfrm rot="-5400000">
            <a:off x="-2555354" y="2247962"/>
            <a:ext cx="5760020" cy="649312"/>
          </a:xfrm>
          <a:custGeom>
            <a:rect b="b" l="l" r="r" t="t"/>
            <a:pathLst>
              <a:path extrusionOk="0" h="1298623" w="11520040">
                <a:moveTo>
                  <a:pt x="0" y="0"/>
                </a:moveTo>
                <a:lnTo>
                  <a:pt x="11520040" y="0"/>
                </a:lnTo>
                <a:lnTo>
                  <a:pt x="11520040" y="1298623"/>
                </a:lnTo>
                <a:lnTo>
                  <a:pt x="0" y="1298623"/>
                </a:lnTo>
                <a:lnTo>
                  <a:pt x="0" y="0"/>
                </a:lnTo>
                <a:close/>
              </a:path>
            </a:pathLst>
          </a:custGeom>
          <a:blipFill rotWithShape="1">
            <a:blip r:embed="rId3">
              <a:alphaModFix/>
            </a:blip>
            <a:stretch>
              <a:fillRect b="0" l="0" r="0" t="0"/>
            </a:stretch>
          </a:blipFill>
          <a:ln>
            <a:noFill/>
          </a:ln>
        </p:spPr>
      </p:sp>
      <p:sp>
        <p:nvSpPr>
          <p:cNvPr id="137" name="Google Shape;137;p20"/>
          <p:cNvSpPr txBox="1"/>
          <p:nvPr/>
        </p:nvSpPr>
        <p:spPr>
          <a:xfrm>
            <a:off x="4921251" y="490550"/>
            <a:ext cx="3708300" cy="366300"/>
          </a:xfrm>
          <a:prstGeom prst="rect">
            <a:avLst/>
          </a:prstGeom>
          <a:noFill/>
          <a:ln>
            <a:noFill/>
          </a:ln>
        </p:spPr>
        <p:txBody>
          <a:bodyPr anchorCtr="0" anchor="t" bIns="0" lIns="0" spcFirstLastPara="1" rIns="0" wrap="square" tIns="0">
            <a:spAutoFit/>
          </a:bodyPr>
          <a:lstStyle/>
          <a:p>
            <a:pPr indent="0" lvl="0" marL="0" rtl="0" algn="r">
              <a:lnSpc>
                <a:spcPct val="140025"/>
              </a:lnSpc>
              <a:spcBef>
                <a:spcPts val="0"/>
              </a:spcBef>
              <a:spcAft>
                <a:spcPts val="0"/>
              </a:spcAft>
              <a:buClr>
                <a:schemeClr val="dk1"/>
              </a:buClr>
              <a:buFont typeface="Arial"/>
              <a:buNone/>
            </a:pPr>
            <a:r>
              <a:rPr lang="en" sz="1200">
                <a:solidFill>
                  <a:schemeClr val="lt1"/>
                </a:solidFill>
                <a:latin typeface="Open Sans"/>
                <a:ea typeface="Open Sans"/>
                <a:cs typeface="Open Sans"/>
                <a:sym typeface="Open Sans"/>
              </a:rPr>
              <a:t>2025 Sustainability Expertise Case Competition</a:t>
            </a:r>
            <a:endParaRPr sz="700">
              <a:solidFill>
                <a:schemeClr val="lt1"/>
              </a:solidFill>
            </a:endParaRPr>
          </a:p>
          <a:p>
            <a:pPr indent="0" lvl="0" marL="0" marR="0" rtl="0" algn="r">
              <a:lnSpc>
                <a:spcPct val="140025"/>
              </a:lnSpc>
              <a:spcBef>
                <a:spcPts val="0"/>
              </a:spcBef>
              <a:spcAft>
                <a:spcPts val="0"/>
              </a:spcAft>
              <a:buNone/>
            </a:pPr>
            <a:r>
              <a:t/>
            </a:r>
            <a:endParaRPr sz="7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1" name="Shape 141"/>
        <p:cNvGrpSpPr/>
        <p:nvPr/>
      </p:nvGrpSpPr>
      <p:grpSpPr>
        <a:xfrm>
          <a:off x="0" y="0"/>
          <a:ext cx="0" cy="0"/>
          <a:chOff x="0" y="0"/>
          <a:chExt cx="0" cy="0"/>
        </a:xfrm>
      </p:grpSpPr>
      <p:sp>
        <p:nvSpPr>
          <p:cNvPr id="142" name="Google Shape;142;p21"/>
          <p:cNvSpPr/>
          <p:nvPr/>
        </p:nvSpPr>
        <p:spPr>
          <a:xfrm>
            <a:off x="514350" y="4470082"/>
            <a:ext cx="1411090" cy="159068"/>
          </a:xfrm>
          <a:custGeom>
            <a:rect b="b" l="l" r="r" t="t"/>
            <a:pathLst>
              <a:path extrusionOk="0" h="318137" w="2822180">
                <a:moveTo>
                  <a:pt x="0" y="0"/>
                </a:moveTo>
                <a:lnTo>
                  <a:pt x="2822180" y="0"/>
                </a:lnTo>
                <a:lnTo>
                  <a:pt x="2822180" y="318137"/>
                </a:lnTo>
                <a:lnTo>
                  <a:pt x="0" y="318137"/>
                </a:lnTo>
                <a:lnTo>
                  <a:pt x="0" y="0"/>
                </a:lnTo>
                <a:close/>
              </a:path>
            </a:pathLst>
          </a:custGeom>
          <a:blipFill rotWithShape="1">
            <a:blip r:embed="rId3">
              <a:alphaModFix/>
            </a:blip>
            <a:stretch>
              <a:fillRect b="0" l="0" r="0" t="0"/>
            </a:stretch>
          </a:blipFill>
          <a:ln>
            <a:noFill/>
          </a:ln>
        </p:spPr>
      </p:sp>
      <p:sp>
        <p:nvSpPr>
          <p:cNvPr id="143" name="Google Shape;143;p21"/>
          <p:cNvSpPr txBox="1"/>
          <p:nvPr/>
        </p:nvSpPr>
        <p:spPr>
          <a:xfrm>
            <a:off x="5326773" y="466214"/>
            <a:ext cx="2442300" cy="4702500"/>
          </a:xfrm>
          <a:prstGeom prst="rect">
            <a:avLst/>
          </a:prstGeom>
          <a:noFill/>
          <a:ln>
            <a:noFill/>
          </a:ln>
        </p:spPr>
        <p:txBody>
          <a:bodyPr anchorCtr="0" anchor="t" bIns="0" lIns="0" spcFirstLastPara="1" rIns="0" wrap="square" tIns="0">
            <a:spAutoFit/>
          </a:bodyPr>
          <a:lstStyle/>
          <a:p>
            <a:pPr indent="-133350" lvl="1" marL="279400" marR="0" rtl="0" algn="l">
              <a:lnSpc>
                <a:spcPct val="250000"/>
              </a:lnSpc>
              <a:spcBef>
                <a:spcPts val="0"/>
              </a:spcBef>
              <a:spcAft>
                <a:spcPts val="0"/>
              </a:spcAft>
              <a:buClr>
                <a:srgbClr val="000000"/>
              </a:buClr>
              <a:buSzPts val="1300"/>
              <a:buFont typeface="Arial"/>
              <a:buChar char="•"/>
            </a:pPr>
            <a:r>
              <a:rPr b="0" i="0" lang="en" sz="1300" u="none" cap="none" strike="noStrike">
                <a:solidFill>
                  <a:srgbClr val="000000"/>
                </a:solidFill>
                <a:latin typeface="Open Sans"/>
                <a:ea typeface="Open Sans"/>
                <a:cs typeface="Open Sans"/>
                <a:sym typeface="Open Sans"/>
              </a:rPr>
              <a:t>Introduction</a:t>
            </a:r>
            <a:endParaRPr sz="700"/>
          </a:p>
          <a:p>
            <a:pPr indent="-133350" lvl="1" marL="279400" marR="0" rtl="0" algn="l">
              <a:lnSpc>
                <a:spcPct val="250000"/>
              </a:lnSpc>
              <a:spcBef>
                <a:spcPts val="0"/>
              </a:spcBef>
              <a:spcAft>
                <a:spcPts val="0"/>
              </a:spcAft>
              <a:buClr>
                <a:srgbClr val="000000"/>
              </a:buClr>
              <a:buSzPts val="1300"/>
              <a:buFont typeface="Arial"/>
              <a:buChar char="•"/>
            </a:pPr>
            <a:r>
              <a:rPr b="0" i="0" lang="en" sz="1300" u="none" cap="none" strike="noStrike">
                <a:solidFill>
                  <a:srgbClr val="000000"/>
                </a:solidFill>
                <a:latin typeface="Open Sans"/>
                <a:ea typeface="Open Sans"/>
                <a:cs typeface="Open Sans"/>
                <a:sym typeface="Open Sans"/>
              </a:rPr>
              <a:t>Objective</a:t>
            </a:r>
            <a:endParaRPr sz="700"/>
          </a:p>
          <a:p>
            <a:pPr indent="-133350" lvl="1" marL="279400" marR="0" rtl="0" algn="l">
              <a:lnSpc>
                <a:spcPct val="250000"/>
              </a:lnSpc>
              <a:spcBef>
                <a:spcPts val="0"/>
              </a:spcBef>
              <a:spcAft>
                <a:spcPts val="0"/>
              </a:spcAft>
              <a:buClr>
                <a:srgbClr val="000000"/>
              </a:buClr>
              <a:buSzPts val="1300"/>
              <a:buFont typeface="Arial"/>
              <a:buChar char="•"/>
            </a:pPr>
            <a:r>
              <a:rPr b="0" i="0" lang="en" sz="1300" u="none" cap="none" strike="noStrike">
                <a:solidFill>
                  <a:srgbClr val="000000"/>
                </a:solidFill>
                <a:latin typeface="Open Sans"/>
                <a:ea typeface="Open Sans"/>
                <a:cs typeface="Open Sans"/>
                <a:sym typeface="Open Sans"/>
              </a:rPr>
              <a:t>Research Questions</a:t>
            </a:r>
            <a:endParaRPr sz="700"/>
          </a:p>
          <a:p>
            <a:pPr indent="-133350" lvl="1" marL="279400" marR="0" rtl="0" algn="l">
              <a:lnSpc>
                <a:spcPct val="250000"/>
              </a:lnSpc>
              <a:spcBef>
                <a:spcPts val="0"/>
              </a:spcBef>
              <a:spcAft>
                <a:spcPts val="0"/>
              </a:spcAft>
              <a:buClr>
                <a:srgbClr val="000000"/>
              </a:buClr>
              <a:buSzPts val="1300"/>
              <a:buFont typeface="Arial"/>
              <a:buChar char="•"/>
            </a:pPr>
            <a:r>
              <a:rPr b="0" i="0" lang="en" sz="1300" u="none" cap="none" strike="noStrike">
                <a:solidFill>
                  <a:srgbClr val="000000"/>
                </a:solidFill>
                <a:latin typeface="Open Sans"/>
                <a:ea typeface="Open Sans"/>
                <a:cs typeface="Open Sans"/>
                <a:sym typeface="Open Sans"/>
              </a:rPr>
              <a:t>Literature Review</a:t>
            </a:r>
            <a:endParaRPr sz="700"/>
          </a:p>
          <a:p>
            <a:pPr indent="-133350" lvl="1" marL="279400" marR="0" rtl="0" algn="l">
              <a:lnSpc>
                <a:spcPct val="250000"/>
              </a:lnSpc>
              <a:spcBef>
                <a:spcPts val="0"/>
              </a:spcBef>
              <a:spcAft>
                <a:spcPts val="0"/>
              </a:spcAft>
              <a:buClr>
                <a:srgbClr val="000000"/>
              </a:buClr>
              <a:buSzPts val="1300"/>
              <a:buFont typeface="Arial"/>
              <a:buChar char="•"/>
            </a:pPr>
            <a:r>
              <a:rPr b="0" i="0" lang="en" sz="1300" u="none" cap="none" strike="noStrike">
                <a:solidFill>
                  <a:srgbClr val="000000"/>
                </a:solidFill>
                <a:latin typeface="Open Sans"/>
                <a:ea typeface="Open Sans"/>
                <a:cs typeface="Open Sans"/>
                <a:sym typeface="Open Sans"/>
              </a:rPr>
              <a:t>Research Design</a:t>
            </a:r>
            <a:endParaRPr sz="700"/>
          </a:p>
          <a:p>
            <a:pPr indent="-133350" lvl="1" marL="279400" marR="0" rtl="0" algn="l">
              <a:lnSpc>
                <a:spcPct val="250000"/>
              </a:lnSpc>
              <a:spcBef>
                <a:spcPts val="0"/>
              </a:spcBef>
              <a:spcAft>
                <a:spcPts val="0"/>
              </a:spcAft>
              <a:buClr>
                <a:srgbClr val="000000"/>
              </a:buClr>
              <a:buSzPts val="1300"/>
              <a:buFont typeface="Arial"/>
              <a:buChar char="•"/>
            </a:pPr>
            <a:r>
              <a:rPr b="0" i="0" lang="en" sz="1300" u="none" cap="none" strike="noStrike">
                <a:solidFill>
                  <a:srgbClr val="000000"/>
                </a:solidFill>
                <a:latin typeface="Open Sans"/>
                <a:ea typeface="Open Sans"/>
                <a:cs typeface="Open Sans"/>
                <a:sym typeface="Open Sans"/>
              </a:rPr>
              <a:t>Data Collection &amp; Analysis</a:t>
            </a:r>
            <a:endParaRPr sz="700"/>
          </a:p>
          <a:p>
            <a:pPr indent="-133350" lvl="1" marL="279400" marR="0" rtl="0" algn="l">
              <a:lnSpc>
                <a:spcPct val="250000"/>
              </a:lnSpc>
              <a:spcBef>
                <a:spcPts val="0"/>
              </a:spcBef>
              <a:spcAft>
                <a:spcPts val="0"/>
              </a:spcAft>
              <a:buClr>
                <a:srgbClr val="000000"/>
              </a:buClr>
              <a:buSzPts val="1300"/>
              <a:buFont typeface="Arial"/>
              <a:buChar char="•"/>
            </a:pPr>
            <a:r>
              <a:rPr b="0" i="0" lang="en" sz="1300" u="none" cap="none" strike="noStrike">
                <a:solidFill>
                  <a:srgbClr val="000000"/>
                </a:solidFill>
                <a:latin typeface="Open Sans"/>
                <a:ea typeface="Open Sans"/>
                <a:cs typeface="Open Sans"/>
                <a:sym typeface="Open Sans"/>
              </a:rPr>
              <a:t>Key Findings</a:t>
            </a:r>
            <a:endParaRPr sz="700"/>
          </a:p>
          <a:p>
            <a:pPr indent="-133350" lvl="1" marL="279400" marR="0" rtl="0" algn="l">
              <a:lnSpc>
                <a:spcPct val="250000"/>
              </a:lnSpc>
              <a:spcBef>
                <a:spcPts val="0"/>
              </a:spcBef>
              <a:spcAft>
                <a:spcPts val="0"/>
              </a:spcAft>
              <a:buClr>
                <a:srgbClr val="000000"/>
              </a:buClr>
              <a:buSzPts val="1300"/>
              <a:buFont typeface="Arial"/>
              <a:buChar char="•"/>
            </a:pPr>
            <a:r>
              <a:rPr b="0" i="0" lang="en" sz="1300" u="none" cap="none" strike="noStrike">
                <a:solidFill>
                  <a:srgbClr val="000000"/>
                </a:solidFill>
                <a:latin typeface="Open Sans"/>
                <a:ea typeface="Open Sans"/>
                <a:cs typeface="Open Sans"/>
                <a:sym typeface="Open Sans"/>
              </a:rPr>
              <a:t>Discussion</a:t>
            </a:r>
            <a:endParaRPr sz="700"/>
          </a:p>
          <a:p>
            <a:pPr indent="-133350" lvl="1" marL="279400" marR="0" rtl="0" algn="l">
              <a:lnSpc>
                <a:spcPct val="250000"/>
              </a:lnSpc>
              <a:spcBef>
                <a:spcPts val="0"/>
              </a:spcBef>
              <a:spcAft>
                <a:spcPts val="0"/>
              </a:spcAft>
              <a:buClr>
                <a:srgbClr val="000000"/>
              </a:buClr>
              <a:buSzPts val="1300"/>
              <a:buFont typeface="Arial"/>
              <a:buChar char="•"/>
            </a:pPr>
            <a:r>
              <a:rPr b="0" i="0" lang="en" sz="1300" u="none" cap="none" strike="noStrike">
                <a:solidFill>
                  <a:srgbClr val="000000"/>
                </a:solidFill>
                <a:latin typeface="Open Sans"/>
                <a:ea typeface="Open Sans"/>
                <a:cs typeface="Open Sans"/>
                <a:sym typeface="Open Sans"/>
              </a:rPr>
              <a:t>Conclusion</a:t>
            </a:r>
            <a:endParaRPr sz="700"/>
          </a:p>
          <a:p>
            <a:pPr indent="-133350" lvl="1" marL="279400" marR="0" rtl="0" algn="l">
              <a:lnSpc>
                <a:spcPct val="250000"/>
              </a:lnSpc>
              <a:spcBef>
                <a:spcPts val="0"/>
              </a:spcBef>
              <a:spcAft>
                <a:spcPts val="0"/>
              </a:spcAft>
              <a:buClr>
                <a:srgbClr val="000000"/>
              </a:buClr>
              <a:buSzPts val="1300"/>
              <a:buFont typeface="Arial"/>
              <a:buChar char="•"/>
            </a:pPr>
            <a:r>
              <a:rPr b="0" i="0" lang="en" sz="1300" u="none" cap="none" strike="noStrike">
                <a:solidFill>
                  <a:srgbClr val="000000"/>
                </a:solidFill>
                <a:latin typeface="Open Sans"/>
                <a:ea typeface="Open Sans"/>
                <a:cs typeface="Open Sans"/>
                <a:sym typeface="Open Sans"/>
              </a:rPr>
              <a:t>Recommendations</a:t>
            </a:r>
            <a:endParaRPr sz="700"/>
          </a:p>
        </p:txBody>
      </p:sp>
      <p:sp>
        <p:nvSpPr>
          <p:cNvPr id="144" name="Google Shape;144;p21"/>
          <p:cNvSpPr txBox="1"/>
          <p:nvPr/>
        </p:nvSpPr>
        <p:spPr>
          <a:xfrm>
            <a:off x="514350" y="3549329"/>
            <a:ext cx="4086600" cy="738900"/>
          </a:xfrm>
          <a:prstGeom prst="rect">
            <a:avLst/>
          </a:prstGeom>
          <a:noFill/>
          <a:ln>
            <a:noFill/>
          </a:ln>
        </p:spPr>
        <p:txBody>
          <a:bodyPr anchorCtr="0" anchor="t" bIns="0" lIns="0" spcFirstLastPara="1" rIns="0" wrap="square" tIns="0">
            <a:spAutoFit/>
          </a:bodyPr>
          <a:lstStyle/>
          <a:p>
            <a:pPr indent="0" lvl="0" marL="0" marR="0" rtl="0" algn="l">
              <a:lnSpc>
                <a:spcPct val="140004"/>
              </a:lnSpc>
              <a:spcBef>
                <a:spcPts val="0"/>
              </a:spcBef>
              <a:spcAft>
                <a:spcPts val="0"/>
              </a:spcAft>
              <a:buNone/>
            </a:pPr>
            <a:r>
              <a:rPr b="0" i="0" lang="en" sz="4800" u="none" cap="none" strike="noStrike">
                <a:solidFill>
                  <a:srgbClr val="000000"/>
                </a:solidFill>
                <a:latin typeface="League Spartan"/>
                <a:ea typeface="League Spartan"/>
                <a:cs typeface="League Spartan"/>
                <a:sym typeface="League Spartan"/>
              </a:rPr>
              <a:t>OVERVIEW</a:t>
            </a:r>
            <a:endParaRPr sz="700"/>
          </a:p>
        </p:txBody>
      </p:sp>
      <p:sp>
        <p:nvSpPr>
          <p:cNvPr id="145" name="Google Shape;145;p21"/>
          <p:cNvSpPr/>
          <p:nvPr/>
        </p:nvSpPr>
        <p:spPr>
          <a:xfrm rot="-5400000">
            <a:off x="5939334" y="2247962"/>
            <a:ext cx="5760020" cy="649312"/>
          </a:xfrm>
          <a:custGeom>
            <a:rect b="b" l="l" r="r" t="t"/>
            <a:pathLst>
              <a:path extrusionOk="0" h="1298623" w="11520040">
                <a:moveTo>
                  <a:pt x="0" y="0"/>
                </a:moveTo>
                <a:lnTo>
                  <a:pt x="11520040" y="0"/>
                </a:lnTo>
                <a:lnTo>
                  <a:pt x="11520040" y="1298623"/>
                </a:lnTo>
                <a:lnTo>
                  <a:pt x="0" y="1298623"/>
                </a:lnTo>
                <a:lnTo>
                  <a:pt x="0" y="0"/>
                </a:lnTo>
                <a:close/>
              </a:path>
            </a:pathLst>
          </a:custGeom>
          <a:blipFill rotWithShape="1">
            <a:blip r:embed="rId3">
              <a:alphaModFix/>
            </a:blip>
            <a:stretch>
              <a:fillRect b="0" l="0" r="0" t="0"/>
            </a:stretch>
          </a:blipFill>
          <a:ln>
            <a:noFill/>
          </a:ln>
        </p:spPr>
      </p:sp>
      <p:sp>
        <p:nvSpPr>
          <p:cNvPr id="146" name="Google Shape;146;p21"/>
          <p:cNvSpPr txBox="1"/>
          <p:nvPr/>
        </p:nvSpPr>
        <p:spPr>
          <a:xfrm>
            <a:off x="514350" y="490550"/>
            <a:ext cx="3953700" cy="443400"/>
          </a:xfrm>
          <a:prstGeom prst="rect">
            <a:avLst/>
          </a:prstGeom>
          <a:noFill/>
          <a:ln>
            <a:noFill/>
          </a:ln>
        </p:spPr>
        <p:txBody>
          <a:bodyPr anchorCtr="0" anchor="t" bIns="0" lIns="0" spcFirstLastPara="1" rIns="0" wrap="square" tIns="0">
            <a:spAutoFit/>
          </a:bodyPr>
          <a:lstStyle/>
          <a:p>
            <a:pPr indent="0" lvl="0" marL="0" marR="0" rtl="0" algn="l">
              <a:lnSpc>
                <a:spcPct val="140025"/>
              </a:lnSpc>
              <a:spcBef>
                <a:spcPts val="0"/>
              </a:spcBef>
              <a:spcAft>
                <a:spcPts val="0"/>
              </a:spcAft>
              <a:buNone/>
            </a:pPr>
            <a:r>
              <a:rPr lang="en" sz="1200">
                <a:latin typeface="Open Sans"/>
                <a:ea typeface="Open Sans"/>
                <a:cs typeface="Open Sans"/>
                <a:sym typeface="Open Sans"/>
              </a:rPr>
              <a:t>2025 Sustainability Expertise Case Competition</a:t>
            </a:r>
            <a:endParaRPr sz="700"/>
          </a:p>
          <a:p>
            <a:pPr indent="0" lvl="0" marL="0" marR="0" rtl="0" algn="l">
              <a:lnSpc>
                <a:spcPct val="140025"/>
              </a:lnSpc>
              <a:spcBef>
                <a:spcPts val="0"/>
              </a:spcBef>
              <a:spcAft>
                <a:spcPts val="0"/>
              </a:spcAft>
              <a:buNone/>
            </a:pPr>
            <a:r>
              <a:t/>
            </a:r>
            <a:endParaRPr sz="1200">
              <a:latin typeface="Open Sans"/>
              <a:ea typeface="Open Sans"/>
              <a:cs typeface="Open Sans"/>
              <a:sym typeface="Ope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0" name="Shape 150"/>
        <p:cNvGrpSpPr/>
        <p:nvPr/>
      </p:nvGrpSpPr>
      <p:grpSpPr>
        <a:xfrm>
          <a:off x="0" y="0"/>
          <a:ext cx="0" cy="0"/>
          <a:chOff x="0" y="0"/>
          <a:chExt cx="0" cy="0"/>
        </a:xfrm>
      </p:grpSpPr>
      <p:grpSp>
        <p:nvGrpSpPr>
          <p:cNvPr id="151" name="Google Shape;151;p22"/>
          <p:cNvGrpSpPr/>
          <p:nvPr/>
        </p:nvGrpSpPr>
        <p:grpSpPr>
          <a:xfrm>
            <a:off x="4317042" y="-103990"/>
            <a:ext cx="5374843" cy="5575427"/>
            <a:chOff x="0" y="-47625"/>
            <a:chExt cx="2831100" cy="2936754"/>
          </a:xfrm>
        </p:grpSpPr>
        <p:sp>
          <p:nvSpPr>
            <p:cNvPr id="152" name="Google Shape;152;p22"/>
            <p:cNvSpPr/>
            <p:nvPr/>
          </p:nvSpPr>
          <p:spPr>
            <a:xfrm>
              <a:off x="0" y="0"/>
              <a:ext cx="2830993" cy="2889129"/>
            </a:xfrm>
            <a:custGeom>
              <a:rect b="b" l="l" r="r" t="t"/>
              <a:pathLst>
                <a:path extrusionOk="0" h="2889129" w="2830993">
                  <a:moveTo>
                    <a:pt x="0" y="0"/>
                  </a:moveTo>
                  <a:lnTo>
                    <a:pt x="2830993" y="0"/>
                  </a:lnTo>
                  <a:lnTo>
                    <a:pt x="2830993" y="2889129"/>
                  </a:lnTo>
                  <a:lnTo>
                    <a:pt x="0" y="2889129"/>
                  </a:lnTo>
                  <a:close/>
                </a:path>
              </a:pathLst>
            </a:custGeom>
            <a:solidFill>
              <a:srgbClr val="282828"/>
            </a:solidFill>
            <a:ln>
              <a:noFill/>
            </a:ln>
          </p:spPr>
        </p:sp>
        <p:sp>
          <p:nvSpPr>
            <p:cNvPr id="153" name="Google Shape;153;p22"/>
            <p:cNvSpPr txBox="1"/>
            <p:nvPr/>
          </p:nvSpPr>
          <p:spPr>
            <a:xfrm>
              <a:off x="0" y="-47625"/>
              <a:ext cx="2831100" cy="2936700"/>
            </a:xfrm>
            <a:prstGeom prst="rect">
              <a:avLst/>
            </a:prstGeom>
            <a:noFill/>
            <a:ln>
              <a:noFill/>
            </a:ln>
          </p:spPr>
          <p:txBody>
            <a:bodyPr anchorCtr="0" anchor="ctr" bIns="25400" lIns="25400" spcFirstLastPara="1" rIns="25400" wrap="square" tIns="25400">
              <a:noAutofit/>
            </a:bodyPr>
            <a:lstStyle/>
            <a:p>
              <a:pPr indent="0" lvl="0" marL="0" marR="0" rtl="0" algn="ctr">
                <a:lnSpc>
                  <a:spcPct val="178888"/>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54" name="Google Shape;154;p22"/>
          <p:cNvSpPr txBox="1"/>
          <p:nvPr/>
        </p:nvSpPr>
        <p:spPr>
          <a:xfrm>
            <a:off x="5679857" y="2878092"/>
            <a:ext cx="2949900" cy="600300"/>
          </a:xfrm>
          <a:prstGeom prst="rect">
            <a:avLst/>
          </a:prstGeom>
          <a:noFill/>
          <a:ln>
            <a:noFill/>
          </a:ln>
        </p:spPr>
        <p:txBody>
          <a:bodyPr anchorCtr="0" anchor="t" bIns="0" lIns="0" spcFirstLastPara="1" rIns="0" wrap="square" tIns="0">
            <a:spAutoFit/>
          </a:bodyPr>
          <a:lstStyle/>
          <a:p>
            <a:pPr indent="0" lvl="0" marL="0" marR="0" rtl="0" algn="just">
              <a:lnSpc>
                <a:spcPct val="200000"/>
              </a:lnSpc>
              <a:spcBef>
                <a:spcPts val="0"/>
              </a:spcBef>
              <a:spcAft>
                <a:spcPts val="0"/>
              </a:spcAft>
              <a:buNone/>
            </a:pPr>
            <a:r>
              <a:rPr b="0" i="0" lang="en" sz="1300" u="none" cap="none" strike="noStrike">
                <a:solidFill>
                  <a:srgbClr val="FFFFFF"/>
                </a:solidFill>
                <a:latin typeface="Open Sans"/>
                <a:ea typeface="Open Sans"/>
                <a:cs typeface="Open Sans"/>
                <a:sym typeface="Open Sans"/>
              </a:rPr>
              <a:t>How do small businesses implement digital marketing strategies?</a:t>
            </a:r>
            <a:endParaRPr sz="700"/>
          </a:p>
        </p:txBody>
      </p:sp>
      <p:sp>
        <p:nvSpPr>
          <p:cNvPr id="155" name="Google Shape;155;p22"/>
          <p:cNvSpPr/>
          <p:nvPr/>
        </p:nvSpPr>
        <p:spPr>
          <a:xfrm rot="-4863435">
            <a:off x="1636545" y="2257558"/>
            <a:ext cx="5743436" cy="650649"/>
          </a:xfrm>
          <a:custGeom>
            <a:rect b="b" l="l" r="r" t="t"/>
            <a:pathLst>
              <a:path extrusionOk="0" h="1298623" w="11520040">
                <a:moveTo>
                  <a:pt x="0" y="0"/>
                </a:moveTo>
                <a:lnTo>
                  <a:pt x="11520040" y="0"/>
                </a:lnTo>
                <a:lnTo>
                  <a:pt x="11520040" y="1298623"/>
                </a:lnTo>
                <a:lnTo>
                  <a:pt x="0" y="1298623"/>
                </a:lnTo>
                <a:lnTo>
                  <a:pt x="0" y="0"/>
                </a:lnTo>
                <a:close/>
              </a:path>
            </a:pathLst>
          </a:custGeom>
          <a:blipFill rotWithShape="1">
            <a:blip r:embed="rId3">
              <a:alphaModFix/>
            </a:blip>
            <a:stretch>
              <a:fillRect b="0" l="0" r="0" t="0"/>
            </a:stretch>
          </a:blipFill>
          <a:ln>
            <a:noFill/>
          </a:ln>
        </p:spPr>
      </p:sp>
      <p:grpSp>
        <p:nvGrpSpPr>
          <p:cNvPr id="156" name="Google Shape;156;p22"/>
          <p:cNvGrpSpPr/>
          <p:nvPr/>
        </p:nvGrpSpPr>
        <p:grpSpPr>
          <a:xfrm rot="792544">
            <a:off x="3454111" y="-358744"/>
            <a:ext cx="1104885" cy="5575214"/>
            <a:chOff x="0" y="-47625"/>
            <a:chExt cx="582000" cy="2936754"/>
          </a:xfrm>
        </p:grpSpPr>
        <p:sp>
          <p:nvSpPr>
            <p:cNvPr id="157" name="Google Shape;157;p22"/>
            <p:cNvSpPr/>
            <p:nvPr/>
          </p:nvSpPr>
          <p:spPr>
            <a:xfrm>
              <a:off x="0" y="0"/>
              <a:ext cx="581874" cy="2889129"/>
            </a:xfrm>
            <a:custGeom>
              <a:rect b="b" l="l" r="r" t="t"/>
              <a:pathLst>
                <a:path extrusionOk="0" h="2889129" w="581874">
                  <a:moveTo>
                    <a:pt x="0" y="0"/>
                  </a:moveTo>
                  <a:lnTo>
                    <a:pt x="581874" y="0"/>
                  </a:lnTo>
                  <a:lnTo>
                    <a:pt x="581874" y="2889129"/>
                  </a:lnTo>
                  <a:lnTo>
                    <a:pt x="0" y="2889129"/>
                  </a:lnTo>
                  <a:close/>
                </a:path>
              </a:pathLst>
            </a:custGeom>
            <a:solidFill>
              <a:srgbClr val="FFFFFF"/>
            </a:solidFill>
            <a:ln>
              <a:noFill/>
            </a:ln>
          </p:spPr>
        </p:sp>
        <p:sp>
          <p:nvSpPr>
            <p:cNvPr id="158" name="Google Shape;158;p22"/>
            <p:cNvSpPr txBox="1"/>
            <p:nvPr/>
          </p:nvSpPr>
          <p:spPr>
            <a:xfrm>
              <a:off x="0" y="-47625"/>
              <a:ext cx="582000" cy="2936700"/>
            </a:xfrm>
            <a:prstGeom prst="rect">
              <a:avLst/>
            </a:prstGeom>
            <a:noFill/>
            <a:ln>
              <a:noFill/>
            </a:ln>
          </p:spPr>
          <p:txBody>
            <a:bodyPr anchorCtr="0" anchor="ctr" bIns="25400" lIns="25400" spcFirstLastPara="1" rIns="25400" wrap="square" tIns="25400">
              <a:noAutofit/>
            </a:bodyPr>
            <a:lstStyle/>
            <a:p>
              <a:pPr indent="0" lvl="0" marL="0" marR="0" rtl="0" algn="ctr">
                <a:lnSpc>
                  <a:spcPct val="178888"/>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59" name="Google Shape;159;p22"/>
          <p:cNvSpPr txBox="1"/>
          <p:nvPr/>
        </p:nvSpPr>
        <p:spPr>
          <a:xfrm>
            <a:off x="512726" y="423863"/>
            <a:ext cx="4466100" cy="1773300"/>
          </a:xfrm>
          <a:prstGeom prst="rect">
            <a:avLst/>
          </a:prstGeom>
          <a:noFill/>
          <a:ln>
            <a:noFill/>
          </a:ln>
        </p:spPr>
        <p:txBody>
          <a:bodyPr anchorCtr="0" anchor="t" bIns="0" lIns="0" spcFirstLastPara="1" rIns="0" wrap="square" tIns="0">
            <a:spAutoFit/>
          </a:bodyPr>
          <a:lstStyle/>
          <a:p>
            <a:pPr indent="0" lvl="0" marL="0" marR="0" rtl="0" algn="l">
              <a:lnSpc>
                <a:spcPct val="140004"/>
              </a:lnSpc>
              <a:spcBef>
                <a:spcPts val="0"/>
              </a:spcBef>
              <a:spcAft>
                <a:spcPts val="0"/>
              </a:spcAft>
              <a:buNone/>
            </a:pPr>
            <a:r>
              <a:rPr b="1" i="0" lang="en" sz="4800" u="none" cap="none" strike="noStrike">
                <a:solidFill>
                  <a:srgbClr val="000000"/>
                </a:solidFill>
                <a:latin typeface="League Spartan"/>
                <a:ea typeface="League Spartan"/>
                <a:cs typeface="League Spartan"/>
                <a:sym typeface="League Spartan"/>
              </a:rPr>
              <a:t>RESEARCH QUESTIONS</a:t>
            </a:r>
            <a:endParaRPr sz="700"/>
          </a:p>
        </p:txBody>
      </p:sp>
      <p:sp>
        <p:nvSpPr>
          <p:cNvPr id="160" name="Google Shape;160;p22"/>
          <p:cNvSpPr txBox="1"/>
          <p:nvPr/>
        </p:nvSpPr>
        <p:spPr>
          <a:xfrm>
            <a:off x="5357742" y="3970179"/>
            <a:ext cx="3271800" cy="600300"/>
          </a:xfrm>
          <a:prstGeom prst="rect">
            <a:avLst/>
          </a:prstGeom>
          <a:noFill/>
          <a:ln>
            <a:noFill/>
          </a:ln>
        </p:spPr>
        <p:txBody>
          <a:bodyPr anchorCtr="0" anchor="t" bIns="0" lIns="0" spcFirstLastPara="1" rIns="0" wrap="square" tIns="0">
            <a:spAutoFit/>
          </a:bodyPr>
          <a:lstStyle/>
          <a:p>
            <a:pPr indent="0" lvl="0" marL="0" marR="0" rtl="0" algn="just">
              <a:lnSpc>
                <a:spcPct val="200000"/>
              </a:lnSpc>
              <a:spcBef>
                <a:spcPts val="0"/>
              </a:spcBef>
              <a:spcAft>
                <a:spcPts val="0"/>
              </a:spcAft>
              <a:buNone/>
            </a:pPr>
            <a:r>
              <a:rPr b="0" i="0" lang="en" sz="1300" u="none" cap="none" strike="noStrike">
                <a:solidFill>
                  <a:srgbClr val="FFFFFF"/>
                </a:solidFill>
                <a:latin typeface="Open Sans"/>
                <a:ea typeface="Open Sans"/>
                <a:cs typeface="Open Sans"/>
                <a:sym typeface="Open Sans"/>
              </a:rPr>
              <a:t>What impact do these strategies have on business growth metrics?</a:t>
            </a:r>
            <a:endParaRPr sz="700"/>
          </a:p>
        </p:txBody>
      </p:sp>
      <p:sp>
        <p:nvSpPr>
          <p:cNvPr id="161" name="Google Shape;161;p22"/>
          <p:cNvSpPr txBox="1"/>
          <p:nvPr/>
        </p:nvSpPr>
        <p:spPr>
          <a:xfrm>
            <a:off x="5088031" y="2882378"/>
            <a:ext cx="539400" cy="6003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 sz="3900" u="none" cap="none" strike="noStrike">
                <a:solidFill>
                  <a:srgbClr val="FFA4D8"/>
                </a:solidFill>
                <a:latin typeface="Open Sans"/>
                <a:ea typeface="Open Sans"/>
                <a:cs typeface="Open Sans"/>
                <a:sym typeface="Open Sans"/>
              </a:rPr>
              <a:t>1</a:t>
            </a:r>
            <a:endParaRPr sz="700"/>
          </a:p>
        </p:txBody>
      </p:sp>
      <p:sp>
        <p:nvSpPr>
          <p:cNvPr id="162" name="Google Shape;162;p22"/>
          <p:cNvSpPr txBox="1"/>
          <p:nvPr/>
        </p:nvSpPr>
        <p:spPr>
          <a:xfrm>
            <a:off x="4761311" y="3974466"/>
            <a:ext cx="539400" cy="6003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 sz="3900" u="none" cap="none" strike="noStrike">
                <a:solidFill>
                  <a:srgbClr val="7EDBFF"/>
                </a:solidFill>
                <a:latin typeface="Open Sans"/>
                <a:ea typeface="Open Sans"/>
                <a:cs typeface="Open Sans"/>
                <a:sym typeface="Open Sans"/>
              </a:rPr>
              <a:t>2</a:t>
            </a:r>
            <a:endParaRPr sz="700"/>
          </a:p>
        </p:txBody>
      </p:sp>
      <p:sp>
        <p:nvSpPr>
          <p:cNvPr id="163" name="Google Shape;163;p22"/>
          <p:cNvSpPr/>
          <p:nvPr/>
        </p:nvSpPr>
        <p:spPr>
          <a:xfrm>
            <a:off x="514350" y="2324996"/>
            <a:ext cx="1311710" cy="147865"/>
          </a:xfrm>
          <a:custGeom>
            <a:rect b="b" l="l" r="r" t="t"/>
            <a:pathLst>
              <a:path extrusionOk="0" h="295731" w="2623419">
                <a:moveTo>
                  <a:pt x="0" y="0"/>
                </a:moveTo>
                <a:lnTo>
                  <a:pt x="2623419" y="0"/>
                </a:lnTo>
                <a:lnTo>
                  <a:pt x="2623419" y="295730"/>
                </a:lnTo>
                <a:lnTo>
                  <a:pt x="0" y="295730"/>
                </a:lnTo>
                <a:lnTo>
                  <a:pt x="0" y="0"/>
                </a:lnTo>
                <a:close/>
              </a:path>
            </a:pathLst>
          </a:custGeom>
          <a:blipFill rotWithShape="1">
            <a:blip r:embed="rId3">
              <a:alphaModFix/>
            </a:blip>
            <a:stretch>
              <a:fillRect b="0" l="0" r="0" t="0"/>
            </a:stretch>
          </a:blipFill>
          <a:ln>
            <a:noFill/>
          </a:ln>
        </p:spPr>
      </p:sp>
      <p:sp>
        <p:nvSpPr>
          <p:cNvPr id="164" name="Google Shape;164;p22"/>
          <p:cNvSpPr txBox="1"/>
          <p:nvPr/>
        </p:nvSpPr>
        <p:spPr>
          <a:xfrm>
            <a:off x="5776597" y="490538"/>
            <a:ext cx="2853000" cy="184800"/>
          </a:xfrm>
          <a:prstGeom prst="rect">
            <a:avLst/>
          </a:prstGeom>
          <a:noFill/>
          <a:ln>
            <a:noFill/>
          </a:ln>
        </p:spPr>
        <p:txBody>
          <a:bodyPr anchorCtr="0" anchor="t" bIns="0" lIns="0" spcFirstLastPara="1" rIns="0" wrap="square" tIns="0">
            <a:spAutoFit/>
          </a:bodyPr>
          <a:lstStyle/>
          <a:p>
            <a:pPr indent="0" lvl="0" marL="0" marR="0" rtl="0" algn="r">
              <a:lnSpc>
                <a:spcPct val="140025"/>
              </a:lnSpc>
              <a:spcBef>
                <a:spcPts val="0"/>
              </a:spcBef>
              <a:spcAft>
                <a:spcPts val="0"/>
              </a:spcAft>
              <a:buNone/>
            </a:pPr>
            <a:r>
              <a:rPr b="0" i="0" lang="en" sz="1200" u="none" cap="none" strike="noStrike">
                <a:solidFill>
                  <a:srgbClr val="FFFFFF"/>
                </a:solidFill>
                <a:latin typeface="Open Sans"/>
                <a:ea typeface="Open Sans"/>
                <a:cs typeface="Open Sans"/>
                <a:sym typeface="Open Sans"/>
              </a:rPr>
              <a:t>RIMBERIO UNIVERSITY</a:t>
            </a:r>
            <a:endParaRPr sz="7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282828"/>
        </a:solidFill>
      </p:bgPr>
    </p:bg>
    <p:spTree>
      <p:nvGrpSpPr>
        <p:cNvPr id="168" name="Shape 168"/>
        <p:cNvGrpSpPr/>
        <p:nvPr/>
      </p:nvGrpSpPr>
      <p:grpSpPr>
        <a:xfrm>
          <a:off x="0" y="0"/>
          <a:ext cx="0" cy="0"/>
          <a:chOff x="0" y="0"/>
          <a:chExt cx="0" cy="0"/>
        </a:xfrm>
      </p:grpSpPr>
      <p:sp>
        <p:nvSpPr>
          <p:cNvPr id="169" name="Google Shape;169;p23"/>
          <p:cNvSpPr txBox="1"/>
          <p:nvPr/>
        </p:nvSpPr>
        <p:spPr>
          <a:xfrm>
            <a:off x="1089914" y="2254903"/>
            <a:ext cx="6660600" cy="2878500"/>
          </a:xfrm>
          <a:prstGeom prst="rect">
            <a:avLst/>
          </a:prstGeom>
          <a:noFill/>
          <a:ln>
            <a:noFill/>
          </a:ln>
        </p:spPr>
        <p:txBody>
          <a:bodyPr anchorCtr="0" anchor="t" bIns="0" lIns="0" spcFirstLastPara="1" rIns="0" wrap="square" tIns="0">
            <a:spAutoFit/>
          </a:bodyPr>
          <a:lstStyle/>
          <a:p>
            <a:pPr indent="-120650" lvl="1" marL="228600" marR="0" rtl="0" algn="just">
              <a:lnSpc>
                <a:spcPct val="200000"/>
              </a:lnSpc>
              <a:spcBef>
                <a:spcPts val="0"/>
              </a:spcBef>
              <a:spcAft>
                <a:spcPts val="0"/>
              </a:spcAft>
              <a:buClr>
                <a:srgbClr val="FFFFFF"/>
              </a:buClr>
              <a:buSzPts val="1100"/>
              <a:buFont typeface="Arial"/>
              <a:buChar char="•"/>
            </a:pPr>
            <a:r>
              <a:rPr b="0" i="0" lang="en" sz="1100" u="none" cap="none" strike="noStrike">
                <a:solidFill>
                  <a:srgbClr val="FFFFFF"/>
                </a:solidFill>
                <a:latin typeface="Open Sans"/>
                <a:ea typeface="Open Sans"/>
                <a:cs typeface="Open Sans"/>
                <a:sym typeface="Open Sans"/>
              </a:rPr>
              <a:t>Lorem ipsum dolor sit amet, consectetur adipiscing elit. Cras elementum ante pretium eleifend tempus. Suspendisse odio nisi, pellentesque vitae dolor sed, cursus ullamcorper tortor. Vivamus in maximus erat, in imperdiet ex.</a:t>
            </a:r>
            <a:endParaRPr sz="700"/>
          </a:p>
          <a:p>
            <a:pPr indent="-120650" lvl="1" marL="228600" marR="0" rtl="0" algn="just">
              <a:lnSpc>
                <a:spcPct val="200000"/>
              </a:lnSpc>
              <a:spcBef>
                <a:spcPts val="0"/>
              </a:spcBef>
              <a:spcAft>
                <a:spcPts val="0"/>
              </a:spcAft>
              <a:buClr>
                <a:srgbClr val="FFFFFF"/>
              </a:buClr>
              <a:buSzPts val="1100"/>
              <a:buFont typeface="Arial"/>
              <a:buChar char="•"/>
            </a:pPr>
            <a:r>
              <a:rPr b="0" i="0" lang="en" sz="1100" u="none" cap="none" strike="noStrike">
                <a:solidFill>
                  <a:srgbClr val="FFFFFF"/>
                </a:solidFill>
                <a:latin typeface="Open Sans"/>
                <a:ea typeface="Open Sans"/>
                <a:cs typeface="Open Sans"/>
                <a:sym typeface="Open Sans"/>
              </a:rPr>
              <a:t>Lorem ipsum dolor sit amet, consectetur adipiscing elit. Cras elementum ante pretium eleifend tempus. Suspendisse odio nisi, pellentesque vitae dolor sed, cursus ullamcorper tortor. Vivamus in maximus erat, in imperdiet ex.</a:t>
            </a:r>
            <a:endParaRPr sz="700"/>
          </a:p>
          <a:p>
            <a:pPr indent="-120650" lvl="1" marL="228600" marR="0" rtl="0" algn="just">
              <a:lnSpc>
                <a:spcPct val="200000"/>
              </a:lnSpc>
              <a:spcBef>
                <a:spcPts val="0"/>
              </a:spcBef>
              <a:spcAft>
                <a:spcPts val="0"/>
              </a:spcAft>
              <a:buClr>
                <a:srgbClr val="FFFFFF"/>
              </a:buClr>
              <a:buSzPts val="1100"/>
              <a:buFont typeface="Arial"/>
              <a:buChar char="•"/>
            </a:pPr>
            <a:r>
              <a:rPr b="0" i="0" lang="en" sz="1100" u="none" cap="none" strike="noStrike">
                <a:solidFill>
                  <a:srgbClr val="FFFFFF"/>
                </a:solidFill>
                <a:latin typeface="Open Sans"/>
                <a:ea typeface="Open Sans"/>
                <a:cs typeface="Open Sans"/>
                <a:sym typeface="Open Sans"/>
              </a:rPr>
              <a:t>Lorem ipsum dolor sit amet, consectetur adipiscing elit. Cras elementum ante pretium eleifend tempus. Suspendisse odio nisi, pellentesque vitae dolor sed, cursus ullamcorper tortor. Vivamus in maximus erat, in imperdiet ex.</a:t>
            </a:r>
            <a:endParaRPr sz="700"/>
          </a:p>
        </p:txBody>
      </p:sp>
      <p:sp>
        <p:nvSpPr>
          <p:cNvPr id="170" name="Google Shape;170;p23"/>
          <p:cNvSpPr/>
          <p:nvPr/>
        </p:nvSpPr>
        <p:spPr>
          <a:xfrm>
            <a:off x="1089914" y="1342270"/>
            <a:ext cx="1714590" cy="193281"/>
          </a:xfrm>
          <a:custGeom>
            <a:rect b="b" l="l" r="r" t="t"/>
            <a:pathLst>
              <a:path extrusionOk="0" h="386562" w="3429181">
                <a:moveTo>
                  <a:pt x="0" y="0"/>
                </a:moveTo>
                <a:lnTo>
                  <a:pt x="3429182" y="0"/>
                </a:lnTo>
                <a:lnTo>
                  <a:pt x="3429182" y="386562"/>
                </a:lnTo>
                <a:lnTo>
                  <a:pt x="0" y="386562"/>
                </a:lnTo>
                <a:lnTo>
                  <a:pt x="0" y="0"/>
                </a:lnTo>
                <a:close/>
              </a:path>
            </a:pathLst>
          </a:custGeom>
          <a:blipFill rotWithShape="1">
            <a:blip r:embed="rId3">
              <a:alphaModFix/>
            </a:blip>
            <a:stretch>
              <a:fillRect b="0" l="0" r="0" t="0"/>
            </a:stretch>
          </a:blipFill>
          <a:ln>
            <a:noFill/>
          </a:ln>
        </p:spPr>
      </p:sp>
      <p:sp>
        <p:nvSpPr>
          <p:cNvPr id="171" name="Google Shape;171;p23"/>
          <p:cNvSpPr txBox="1"/>
          <p:nvPr/>
        </p:nvSpPr>
        <p:spPr>
          <a:xfrm>
            <a:off x="1089914" y="423863"/>
            <a:ext cx="5563200" cy="738900"/>
          </a:xfrm>
          <a:prstGeom prst="rect">
            <a:avLst/>
          </a:prstGeom>
          <a:noFill/>
          <a:ln>
            <a:noFill/>
          </a:ln>
        </p:spPr>
        <p:txBody>
          <a:bodyPr anchorCtr="0" anchor="t" bIns="0" lIns="0" spcFirstLastPara="1" rIns="0" wrap="square" tIns="0">
            <a:spAutoFit/>
          </a:bodyPr>
          <a:lstStyle/>
          <a:p>
            <a:pPr indent="0" lvl="0" marL="0" marR="0" rtl="0" algn="l">
              <a:lnSpc>
                <a:spcPct val="140004"/>
              </a:lnSpc>
              <a:spcBef>
                <a:spcPts val="0"/>
              </a:spcBef>
              <a:spcAft>
                <a:spcPts val="0"/>
              </a:spcAft>
              <a:buNone/>
            </a:pPr>
            <a:r>
              <a:rPr b="1" i="0" lang="en" sz="4800" u="none" cap="none" strike="noStrike">
                <a:solidFill>
                  <a:srgbClr val="FFFFFF"/>
                </a:solidFill>
                <a:latin typeface="League Spartan"/>
                <a:ea typeface="League Spartan"/>
                <a:cs typeface="League Spartan"/>
                <a:sym typeface="League Spartan"/>
              </a:rPr>
              <a:t>KEY FINDINGS</a:t>
            </a:r>
            <a:endParaRPr sz="700"/>
          </a:p>
        </p:txBody>
      </p:sp>
      <p:sp>
        <p:nvSpPr>
          <p:cNvPr id="172" name="Google Shape;172;p23"/>
          <p:cNvSpPr/>
          <p:nvPr/>
        </p:nvSpPr>
        <p:spPr>
          <a:xfrm rot="-5400000">
            <a:off x="-2555354" y="2247962"/>
            <a:ext cx="5760020" cy="649312"/>
          </a:xfrm>
          <a:custGeom>
            <a:rect b="b" l="l" r="r" t="t"/>
            <a:pathLst>
              <a:path extrusionOk="0" h="1298623" w="11520040">
                <a:moveTo>
                  <a:pt x="0" y="0"/>
                </a:moveTo>
                <a:lnTo>
                  <a:pt x="11520040" y="0"/>
                </a:lnTo>
                <a:lnTo>
                  <a:pt x="11520040" y="1298623"/>
                </a:lnTo>
                <a:lnTo>
                  <a:pt x="0" y="1298623"/>
                </a:lnTo>
                <a:lnTo>
                  <a:pt x="0" y="0"/>
                </a:lnTo>
                <a:close/>
              </a:path>
            </a:pathLst>
          </a:custGeom>
          <a:blipFill rotWithShape="1">
            <a:blip r:embed="rId3">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